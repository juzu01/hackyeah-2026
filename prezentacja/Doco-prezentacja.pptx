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Georgia" panose="02040502050405020303" pitchFamily="18" charset="0"/>
      <p:regular r:id="rId13"/>
      <p:bold r:id="rId14"/>
      <p:italic r:id="rId15"/>
      <p:boldItalic r:id="rId16"/>
    </p:embeddedFont>
    <p:embeddedFont>
      <p:font typeface="Segoe UI" panose="020B0502040204020203" pitchFamily="34" charset="0"/>
      <p:regular r:id="rId17"/>
      <p:bold r:id="rId18"/>
      <p:italic r:id="rId19"/>
      <p:boldItalic r:id="rId20"/>
    </p:embeddedFont>
    <p:embeddedFont>
      <p:font typeface="Segoe UI Semibold" panose="020B0702040204020203" pitchFamily="34" charset="0"/>
      <p:bold r:id="rId21"/>
      <p:boldItalic r:id="rId2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44356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Cześć, to Doco — aplikacja, która towarzyszy na co dzień: można z nią porozmawiać o tym, co czujesz, zapisać nastrój, poznać swoje ciało i sprawdzić objawy.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Gdy coś boli, szukamy w internecie i trafiamy na najgorsze scenariusze. Nie wiemy, czy iść do lekarza, a o emocjach trudno mówić. Lekarz dostaje potem mgliste wspomnienia zamiast faktów.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Doco łączy to w jednej aplikacji: sześć zakładek na dolnym pasku. Działa w przeglądarce telefonu i można ją dodać do ekranu głównego.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Czat najpierw słucha. Na pytania o zdrowie odpowiada ze sprawdzonej bazy, zawsze ze źródłami. Gdy nie wie, mówi to wprost. W kryzysie od razu podaje numery pomocy.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Doco można też zadzwonić. Głos daje ElevenLabs, a rozmowę prowadzi Claude. Lemur na ekranie reaguje na głos. Cytat to prawdziwa odpowiedź z naszej rozmowy testowej.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Zaznaczasz, gdzie boli, odpowiadasz na pytania — najpierw alarmowe — i dostajesz zalecenie: od samoopieki po 112, osobno dla każdego objawu. Baza ma 160 objawów i 97 możliwych przyczyn.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Atlas ciała 3D: obracasz model, przełączasz warstwy i dotykasz dowolnej części, żeby dowiedzieć się, czym jest. Można też zapytać głosem, gdzie coś jest.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Codzienny nastrój i ból z Objawów trafiają do jednego dziennika ze statystykami z 30 dni — gotowe do pokazania lekarzowi.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Doco nie stawia diagnoz, tylko wskazuje, gdzie szukać pomocy. Nastrój i dziennik zostają na urządzeniu. Wiedzę sprawdza zespół agentów AI. Język, kolor i tryb każdy ustawia po swojemu.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Dalej: analiza AI połączonych objawów, zweryfikowane bazy medyczne, tłumaczenia i dłuższe rozmowy głosowe. Dziękujemy — zeskanujcie kod i wypróbujcie Doco.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9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7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80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!!glow" descr="C:/Users/mati0/AppData/Local/Temp/claude/C--WINDOWS-system32/30057f80-398d-4f2f-892c-2cd7ce912f70/scratchpad/prezentacja/assets/poswiat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-137160"/>
            <a:ext cx="6126480" cy="6126480"/>
          </a:xfrm>
          <a:prstGeom prst="rect">
            <a:avLst/>
          </a:prstGeom>
        </p:spPr>
      </p:pic>
      <p:sp>
        <p:nvSpPr>
          <p:cNvPr id="4" name="!!horizon"/>
          <p:cNvSpPr/>
          <p:nvPr/>
        </p:nvSpPr>
        <p:spPr>
          <a:xfrm flipV="1">
            <a:off x="-274320" y="5193897"/>
            <a:ext cx="12737592" cy="566823"/>
          </a:xfrm>
          <a:prstGeom prst="line">
            <a:avLst/>
          </a:prstGeom>
          <a:noFill/>
          <a:ln w="22225">
            <a:solidFill>
              <a:srgbClr val="45E499"/>
            </a:solidFill>
            <a:prstDash val="solid"/>
          </a:ln>
        </p:spPr>
      </p:sp>
      <p:sp>
        <p:nvSpPr>
          <p:cNvPr id="5" name="!!horizon2"/>
          <p:cNvSpPr/>
          <p:nvPr/>
        </p:nvSpPr>
        <p:spPr>
          <a:xfrm flipV="1">
            <a:off x="822960" y="5518267"/>
            <a:ext cx="10515600" cy="467944"/>
          </a:xfrm>
          <a:prstGeom prst="line">
            <a:avLst/>
          </a:prstGeom>
          <a:noFill/>
          <a:ln w="12700">
            <a:solidFill>
              <a:srgbClr val="1C3527"/>
            </a:solidFill>
            <a:prstDash val="solid"/>
          </a:ln>
        </p:spPr>
      </p:sp>
      <p:pic>
        <p:nvPicPr>
          <p:cNvPr id="6" name="!!lemur" descr="C:/Users/mati0/AppData/Local/Temp/claude/C--WINDOWS-system32/30057f80-398d-4f2f-892c-2cd7ce912f70/scratchpad/prezentacja/assets/lemu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2705" y="1145926"/>
            <a:ext cx="4673420" cy="438912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777240" y="128016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400" dirty="0">
                <a:solidFill>
                  <a:srgbClr val="45E49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HACKYEAH 2026  ·  SPORT &amp; HEALTHCARE</a:t>
            </a:r>
            <a:endParaRPr lang="en-US" sz="1200" dirty="0"/>
          </a:p>
        </p:txBody>
      </p:sp>
      <p:sp>
        <p:nvSpPr>
          <p:cNvPr id="8" name="Text 3"/>
          <p:cNvSpPr/>
          <p:nvPr/>
        </p:nvSpPr>
        <p:spPr>
          <a:xfrm>
            <a:off x="658368" y="1572768"/>
            <a:ext cx="59436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800" b="1" dirty="0">
                <a:solidFill>
                  <a:srgbClr val="F7F3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Doco</a:t>
            </a:r>
            <a:endParaRPr lang="en-US" sz="11800" dirty="0"/>
          </a:p>
        </p:txBody>
      </p:sp>
      <p:sp>
        <p:nvSpPr>
          <p:cNvPr id="9" name="Text 4"/>
          <p:cNvSpPr/>
          <p:nvPr/>
        </p:nvSpPr>
        <p:spPr>
          <a:xfrm>
            <a:off x="777240" y="320040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i="1" dirty="0">
                <a:solidFill>
                  <a:srgbClr val="45E4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Zawsze tutaj dla Ciebie.</a:t>
            </a:r>
            <a:endParaRPr lang="en-US" sz="2800" dirty="0"/>
          </a:p>
        </p:txBody>
      </p:sp>
      <p:sp>
        <p:nvSpPr>
          <p:cNvPr id="10" name="Text 5"/>
          <p:cNvSpPr/>
          <p:nvPr/>
        </p:nvSpPr>
        <p:spPr>
          <a:xfrm>
            <a:off x="777240" y="393192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A8B1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Rozmowa o tym, co czujesz, dziennik nastroju, atlas ciała 3D i sprawdzanie objawów — w jednej aplikacji na telefon.</a:t>
            </a:r>
            <a:endParaRPr lang="en-US" sz="1700" dirty="0"/>
          </a:p>
        </p:txBody>
      </p:sp>
      <p:sp>
        <p:nvSpPr>
          <p:cNvPr id="11" name="Text 6"/>
          <p:cNvSpPr/>
          <p:nvPr/>
        </p:nvSpPr>
        <p:spPr>
          <a:xfrm>
            <a:off x="777240" y="49834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5E49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</a:t>
            </a:r>
            <a:r>
              <a:rPr lang="en-US" sz="1400" dirty="0">
                <a:solidFill>
                  <a:srgbClr val="F2F5E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juzu01.github.io/hackyeah-2026</a:t>
            </a:r>
            <a:endParaRPr lang="en-US" sz="1400" dirty="0"/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80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881360" y="638251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200" dirty="0">
                <a:solidFill>
                  <a:srgbClr val="6B776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02 / 10</a:t>
            </a:r>
            <a:endParaRPr lang="en-US" sz="1000" dirty="0"/>
          </a:p>
        </p:txBody>
      </p:sp>
      <p:pic>
        <p:nvPicPr>
          <p:cNvPr id="4" name="!!glow" descr="C:/Users/mati0/AppData/Local/Temp/claude/C--WINDOWS-system32/30057f80-398d-4f2f-892c-2cd7ce912f70/scratchpad/prezentacja/assets/poswiat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-2743200"/>
            <a:ext cx="6035040" cy="6035040"/>
          </a:xfrm>
          <a:prstGeom prst="rect">
            <a:avLst/>
          </a:prstGeom>
        </p:spPr>
      </p:pic>
      <p:sp>
        <p:nvSpPr>
          <p:cNvPr id="5" name="!!horizon"/>
          <p:cNvSpPr/>
          <p:nvPr/>
        </p:nvSpPr>
        <p:spPr>
          <a:xfrm flipV="1">
            <a:off x="-274320" y="2496417"/>
            <a:ext cx="12737592" cy="566823"/>
          </a:xfrm>
          <a:prstGeom prst="line">
            <a:avLst/>
          </a:prstGeom>
          <a:noFill/>
          <a:ln w="22225">
            <a:solidFill>
              <a:srgbClr val="45E499"/>
            </a:solidFill>
            <a:prstDash val="solid"/>
          </a:ln>
        </p:spPr>
      </p:sp>
      <p:sp>
        <p:nvSpPr>
          <p:cNvPr id="6" name="!!horizon2"/>
          <p:cNvSpPr/>
          <p:nvPr/>
        </p:nvSpPr>
        <p:spPr>
          <a:xfrm flipV="1">
            <a:off x="822960" y="2820787"/>
            <a:ext cx="10515600" cy="467944"/>
          </a:xfrm>
          <a:prstGeom prst="line">
            <a:avLst/>
          </a:prstGeom>
          <a:noFill/>
          <a:ln w="12700">
            <a:solidFill>
              <a:srgbClr val="1C3527"/>
            </a:solidFill>
            <a:prstDash val="solid"/>
          </a:ln>
        </p:spPr>
      </p:sp>
      <p:pic>
        <p:nvPicPr>
          <p:cNvPr id="7" name="!!lemur" descr="C:/Users/mati0/AppData/Local/Temp/claude/C--WINDOWS-system32/30057f80-398d-4f2f-892c-2cd7ce912f70/scratchpad/prezentacja/assets/lemu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2092" y="707631"/>
            <a:ext cx="2093303" cy="196596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77240" y="6858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400" dirty="0">
                <a:solidFill>
                  <a:srgbClr val="45E49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PROBLEM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777240" y="987552"/>
            <a:ext cx="7955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3800" b="1" dirty="0">
                <a:solidFill>
                  <a:srgbClr val="F7F3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Gdy coś boli albo jest ciężko na duszy, zostajemy z tym sami.</a:t>
            </a:r>
            <a:endParaRPr lang="en-US" sz="3800" dirty="0"/>
          </a:p>
        </p:txBody>
      </p:sp>
      <p:sp>
        <p:nvSpPr>
          <p:cNvPr id="10" name="anim:2:0"/>
          <p:cNvSpPr/>
          <p:nvPr/>
        </p:nvSpPr>
        <p:spPr>
          <a:xfrm>
            <a:off x="777240" y="3520440"/>
            <a:ext cx="3429000" cy="2377440"/>
          </a:xfrm>
          <a:prstGeom prst="snip1Rect">
            <a:avLst/>
          </a:prstGeom>
          <a:solidFill>
            <a:srgbClr val="0C130F"/>
          </a:solidFill>
          <a:ln w="12700">
            <a:solidFill>
              <a:srgbClr val="1E2D24"/>
            </a:solidFill>
          </a:ln>
        </p:spPr>
        <p:txBody>
          <a:bodyPr wrap="square" lIns="274320" tIns="233172" rIns="274320" bIns="219456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3000" b="1" dirty="0">
                <a:solidFill>
                  <a:srgbClr val="45E4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0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900" dirty="0">
                <a:solidFill>
                  <a:srgbClr val="F2F5E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Dr Google straszy</a:t>
            </a:r>
            <a:endParaRPr lang="en-US" sz="3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A8B1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Wyszukiwarka podsuwa najgorsze scenariusze, ale nie mówi, co zrobić teraz.</a:t>
            </a:r>
            <a:endParaRPr lang="en-US" sz="3000" dirty="0"/>
          </a:p>
        </p:txBody>
      </p:sp>
      <p:sp>
        <p:nvSpPr>
          <p:cNvPr id="11" name="anim:2:1"/>
          <p:cNvSpPr/>
          <p:nvPr/>
        </p:nvSpPr>
        <p:spPr>
          <a:xfrm>
            <a:off x="4379976" y="3520440"/>
            <a:ext cx="3429000" cy="2377440"/>
          </a:xfrm>
          <a:prstGeom prst="snip1Rect">
            <a:avLst/>
          </a:prstGeom>
          <a:solidFill>
            <a:srgbClr val="0C130F"/>
          </a:solidFill>
          <a:ln w="12700">
            <a:solidFill>
              <a:srgbClr val="1E2D24"/>
            </a:solidFill>
          </a:ln>
        </p:spPr>
        <p:txBody>
          <a:bodyPr wrap="square" lIns="274320" tIns="233172" rIns="274320" bIns="219456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3000" b="1" dirty="0">
                <a:solidFill>
                  <a:srgbClr val="45E4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0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900" dirty="0">
                <a:solidFill>
                  <a:srgbClr val="F2F5E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Nie wiadomo, dokąd iść</a:t>
            </a:r>
            <a:endParaRPr lang="en-US" sz="3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A8B1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Domowe sposoby, lekarz rodzinny, SOR czy 112? Łatwo zlekceważyć objaw albo wpaść w panikę.</a:t>
            </a:r>
            <a:endParaRPr lang="en-US" sz="3000" dirty="0"/>
          </a:p>
        </p:txBody>
      </p:sp>
      <p:sp>
        <p:nvSpPr>
          <p:cNvPr id="12" name="anim:2:2"/>
          <p:cNvSpPr/>
          <p:nvPr/>
        </p:nvSpPr>
        <p:spPr>
          <a:xfrm>
            <a:off x="7982712" y="3520440"/>
            <a:ext cx="3429000" cy="2377440"/>
          </a:xfrm>
          <a:prstGeom prst="snip1Rect">
            <a:avLst/>
          </a:prstGeom>
          <a:solidFill>
            <a:srgbClr val="0C130F"/>
          </a:solidFill>
          <a:ln w="12700">
            <a:solidFill>
              <a:srgbClr val="1E2D24"/>
            </a:solidFill>
          </a:ln>
        </p:spPr>
        <p:txBody>
          <a:bodyPr wrap="square" lIns="274320" tIns="233172" rIns="274320" bIns="219456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3000" b="1" dirty="0">
                <a:solidFill>
                  <a:srgbClr val="45E4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0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900" dirty="0">
                <a:solidFill>
                  <a:srgbClr val="F2F5E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Emocje bez wsparcia</a:t>
            </a:r>
            <a:endParaRPr lang="en-US" sz="3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A8B1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samopoczuciu trudno rozmawiać, a nastroju i bólu nikt nie zapisuje — u lekarza brakuje faktów.</a:t>
            </a:r>
            <a:endParaRPr lang="en-US" sz="3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80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881360" y="638251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200" dirty="0">
                <a:solidFill>
                  <a:srgbClr val="6B776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03 / 10</a:t>
            </a:r>
            <a:endParaRPr lang="en-US" sz="1000" dirty="0"/>
          </a:p>
        </p:txBody>
      </p:sp>
      <p:pic>
        <p:nvPicPr>
          <p:cNvPr id="4" name="!!glow" descr="C:/Users/mati0/AppData/Local/Temp/claude/C--WINDOWS-system32/30057f80-398d-4f2f-892c-2cd7ce912f70/scratchpad/prezentacja/assets/poswiat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463040" y="365760"/>
            <a:ext cx="5852160" cy="5852160"/>
          </a:xfrm>
          <a:prstGeom prst="rect">
            <a:avLst/>
          </a:prstGeom>
        </p:spPr>
      </p:pic>
      <p:sp>
        <p:nvSpPr>
          <p:cNvPr id="5" name="!!horizon"/>
          <p:cNvSpPr/>
          <p:nvPr/>
        </p:nvSpPr>
        <p:spPr>
          <a:xfrm flipV="1">
            <a:off x="-274320" y="5788257"/>
            <a:ext cx="12737592" cy="566823"/>
          </a:xfrm>
          <a:prstGeom prst="line">
            <a:avLst/>
          </a:prstGeom>
          <a:noFill/>
          <a:ln w="22225">
            <a:solidFill>
              <a:srgbClr val="45E499"/>
            </a:solidFill>
            <a:prstDash val="solid"/>
          </a:ln>
        </p:spPr>
      </p:sp>
      <p:sp>
        <p:nvSpPr>
          <p:cNvPr id="6" name="!!horizon2"/>
          <p:cNvSpPr/>
          <p:nvPr/>
        </p:nvSpPr>
        <p:spPr>
          <a:xfrm flipV="1">
            <a:off x="822960" y="6112627"/>
            <a:ext cx="10515600" cy="467944"/>
          </a:xfrm>
          <a:prstGeom prst="line">
            <a:avLst/>
          </a:prstGeom>
          <a:noFill/>
          <a:ln w="12700">
            <a:solidFill>
              <a:srgbClr val="1C3527"/>
            </a:solidFill>
            <a:prstDash val="solid"/>
          </a:ln>
        </p:spPr>
      </p:sp>
      <p:pic>
        <p:nvPicPr>
          <p:cNvPr id="7" name="!!phoneA" descr="C:/Users/mati0/AppData/Local/Temp/claude/C--WINDOWS-system32/30057f80-398d-4f2f-892c-2cd7ce912f70/scratchpad/prezentacja/assets/tel-rozmow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65760"/>
            <a:ext cx="3184980" cy="612648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343400" y="6858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400" dirty="0">
                <a:solidFill>
                  <a:srgbClr val="45E49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ROZWIĄZANIE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4343400" y="987552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F7F3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Jeden towarzysz na co dzień</a:t>
            </a:r>
            <a:endParaRPr lang="en-US" sz="3600" dirty="0"/>
          </a:p>
        </p:txBody>
      </p:sp>
      <p:sp>
        <p:nvSpPr>
          <p:cNvPr id="10" name="Text 5"/>
          <p:cNvSpPr/>
          <p:nvPr/>
        </p:nvSpPr>
        <p:spPr>
          <a:xfrm>
            <a:off x="4343400" y="171907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A8B1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Sześć zakładek na dolnym pasku — wszystko w telefonie, który i tak masz przy sobie.</a:t>
            </a:r>
            <a:endParaRPr lang="en-US" sz="1600" dirty="0"/>
          </a:p>
        </p:txBody>
      </p:sp>
      <p:sp>
        <p:nvSpPr>
          <p:cNvPr id="11" name="anim:3:0"/>
          <p:cNvSpPr/>
          <p:nvPr/>
        </p:nvSpPr>
        <p:spPr>
          <a:xfrm>
            <a:off x="4343400" y="2395728"/>
            <a:ext cx="3520440" cy="960120"/>
          </a:xfrm>
          <a:prstGeom prst="snip1Rect">
            <a:avLst/>
          </a:prstGeom>
          <a:solidFill>
            <a:srgbClr val="0C130F"/>
          </a:solidFill>
          <a:ln w="12700">
            <a:solidFill>
              <a:srgbClr val="1E2D24"/>
            </a:solidFill>
          </a:ln>
        </p:spPr>
        <p:txBody>
          <a:bodyPr wrap="square" lIns="731520" tIns="155448" rIns="182880" bIns="146304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F2F5E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Rozmowa</a:t>
            </a:r>
            <a:endParaRPr lang="en-US" sz="1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A8B1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Czat, który najpierw słucha, i rozmowa głosowa z Doco.</a:t>
            </a:r>
            <a:endParaRPr lang="en-US" sz="1600" dirty="0"/>
          </a:p>
        </p:txBody>
      </p:sp>
      <p:pic>
        <p:nvPicPr>
          <p:cNvPr id="12" name="anim:3:0:ikona" descr="C:/Users/mati0/AppData/Local/Temp/claude/C--WINDOWS-system32/30057f80-398d-4f2f-892c-2cd7ce912f70/scratchpad/prezentacja/assets/i-cha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6280" y="2596896"/>
            <a:ext cx="384048" cy="384048"/>
          </a:xfrm>
          <a:prstGeom prst="rect">
            <a:avLst/>
          </a:prstGeom>
        </p:spPr>
      </p:pic>
      <p:sp>
        <p:nvSpPr>
          <p:cNvPr id="13" name="anim:3:1"/>
          <p:cNvSpPr/>
          <p:nvPr/>
        </p:nvSpPr>
        <p:spPr>
          <a:xfrm>
            <a:off x="8001000" y="2395728"/>
            <a:ext cx="3520440" cy="960120"/>
          </a:xfrm>
          <a:prstGeom prst="snip1Rect">
            <a:avLst/>
          </a:prstGeom>
          <a:solidFill>
            <a:srgbClr val="0C130F"/>
          </a:solidFill>
          <a:ln w="12700">
            <a:solidFill>
              <a:srgbClr val="1E2D24"/>
            </a:solidFill>
          </a:ln>
        </p:spPr>
        <p:txBody>
          <a:bodyPr wrap="square" lIns="731520" tIns="155448" rIns="182880" bIns="146304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F2F5E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Nastrój</a:t>
            </a:r>
            <a:endParaRPr lang="en-US" sz="1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A8B1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Jedna twarz dziennie i cały tydzień na jednym pasku.</a:t>
            </a:r>
            <a:endParaRPr lang="en-US" sz="1600" dirty="0"/>
          </a:p>
        </p:txBody>
      </p:sp>
      <p:pic>
        <p:nvPicPr>
          <p:cNvPr id="14" name="anim:3:1:ikona" descr="C:/Users/mati0/AppData/Local/Temp/claude/C--WINDOWS-system32/30057f80-398d-4f2f-892c-2cd7ce912f70/scratchpad/prezentacja/assets/i-moo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83880" y="2596896"/>
            <a:ext cx="384048" cy="384048"/>
          </a:xfrm>
          <a:prstGeom prst="rect">
            <a:avLst/>
          </a:prstGeom>
        </p:spPr>
      </p:pic>
      <p:sp>
        <p:nvSpPr>
          <p:cNvPr id="15" name="anim:3:2"/>
          <p:cNvSpPr/>
          <p:nvPr/>
        </p:nvSpPr>
        <p:spPr>
          <a:xfrm>
            <a:off x="4343400" y="3465576"/>
            <a:ext cx="3520440" cy="960120"/>
          </a:xfrm>
          <a:prstGeom prst="snip1Rect">
            <a:avLst/>
          </a:prstGeom>
          <a:solidFill>
            <a:srgbClr val="0C130F"/>
          </a:solidFill>
          <a:ln w="12700">
            <a:solidFill>
              <a:srgbClr val="1E2D24"/>
            </a:solidFill>
          </a:ln>
        </p:spPr>
        <p:txBody>
          <a:bodyPr wrap="square" lIns="731520" tIns="155448" rIns="182880" bIns="146304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F2F5E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Ciało</a:t>
            </a:r>
            <a:endParaRPr lang="en-US" sz="1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A8B1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Atlas 3D: mięśnie, narządy, ćwiczenia.</a:t>
            </a:r>
            <a:endParaRPr lang="en-US" sz="1600" dirty="0"/>
          </a:p>
        </p:txBody>
      </p:sp>
      <p:pic>
        <p:nvPicPr>
          <p:cNvPr id="16" name="anim:3:2:ikona" descr="C:/Users/mati0/AppData/Local/Temp/claude/C--WINDOWS-system32/30057f80-398d-4f2f-892c-2cd7ce912f70/scratchpad/prezentacja/assets/i-bod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26280" y="3666744"/>
            <a:ext cx="384048" cy="384048"/>
          </a:xfrm>
          <a:prstGeom prst="rect">
            <a:avLst/>
          </a:prstGeom>
        </p:spPr>
      </p:pic>
      <p:sp>
        <p:nvSpPr>
          <p:cNvPr id="17" name="anim:3:3"/>
          <p:cNvSpPr/>
          <p:nvPr/>
        </p:nvSpPr>
        <p:spPr>
          <a:xfrm>
            <a:off x="8001000" y="3465576"/>
            <a:ext cx="3520440" cy="960120"/>
          </a:xfrm>
          <a:prstGeom prst="snip1Rect">
            <a:avLst/>
          </a:prstGeom>
          <a:solidFill>
            <a:srgbClr val="0C130F"/>
          </a:solidFill>
          <a:ln w="12700">
            <a:solidFill>
              <a:srgbClr val="1E2D24"/>
            </a:solidFill>
          </a:ln>
        </p:spPr>
        <p:txBody>
          <a:bodyPr wrap="square" lIns="731520" tIns="155448" rIns="182880" bIns="146304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F2F5E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Objawy</a:t>
            </a:r>
            <a:endParaRPr lang="en-US" sz="1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A8B1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Gdzie boli? Wstępna ocena: czy i kiedy do lekarza.</a:t>
            </a:r>
            <a:endParaRPr lang="en-US" sz="1600" dirty="0"/>
          </a:p>
        </p:txBody>
      </p:sp>
      <p:pic>
        <p:nvPicPr>
          <p:cNvPr id="18" name="anim:3:3:ikona" descr="C:/Users/mati0/AppData/Local/Temp/claude/C--WINDOWS-system32/30057f80-398d-4f2f-892c-2cd7ce912f70/scratchpad/prezentacja/assets/i-symptom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83880" y="3666744"/>
            <a:ext cx="384048" cy="384048"/>
          </a:xfrm>
          <a:prstGeom prst="rect">
            <a:avLst/>
          </a:prstGeom>
        </p:spPr>
      </p:pic>
      <p:sp>
        <p:nvSpPr>
          <p:cNvPr id="19" name="anim:3:4"/>
          <p:cNvSpPr/>
          <p:nvPr/>
        </p:nvSpPr>
        <p:spPr>
          <a:xfrm>
            <a:off x="4343400" y="4535424"/>
            <a:ext cx="3520440" cy="960120"/>
          </a:xfrm>
          <a:prstGeom prst="snip1Rect">
            <a:avLst/>
          </a:prstGeom>
          <a:solidFill>
            <a:srgbClr val="0C130F"/>
          </a:solidFill>
          <a:ln w="12700">
            <a:solidFill>
              <a:srgbClr val="1E2D24"/>
            </a:solidFill>
          </a:ln>
        </p:spPr>
        <p:txBody>
          <a:bodyPr wrap="square" lIns="731520" tIns="155448" rIns="182880" bIns="146304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F2F5E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Dziennik</a:t>
            </a:r>
            <a:endParaRPr lang="en-US" sz="1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A8B1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Ból i samopoczucie z 30 dni — gotowe dla lekarza.</a:t>
            </a:r>
            <a:endParaRPr lang="en-US" sz="1600" dirty="0"/>
          </a:p>
        </p:txBody>
      </p:sp>
      <p:pic>
        <p:nvPicPr>
          <p:cNvPr id="20" name="anim:3:4:ikona" descr="C:/Users/mati0/AppData/Local/Temp/claude/C--WINDOWS-system32/30057f80-398d-4f2f-892c-2cd7ce912f70/scratchpad/prezentacja/assets/i-diary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26280" y="4736592"/>
            <a:ext cx="384048" cy="384048"/>
          </a:xfrm>
          <a:prstGeom prst="rect">
            <a:avLst/>
          </a:prstGeom>
        </p:spPr>
      </p:pic>
      <p:sp>
        <p:nvSpPr>
          <p:cNvPr id="21" name="anim:3:5"/>
          <p:cNvSpPr/>
          <p:nvPr/>
        </p:nvSpPr>
        <p:spPr>
          <a:xfrm>
            <a:off x="8001000" y="4535424"/>
            <a:ext cx="3520440" cy="960120"/>
          </a:xfrm>
          <a:prstGeom prst="snip1Rect">
            <a:avLst/>
          </a:prstGeom>
          <a:solidFill>
            <a:srgbClr val="0C130F"/>
          </a:solidFill>
          <a:ln w="12700">
            <a:solidFill>
              <a:srgbClr val="1E2D24"/>
            </a:solidFill>
          </a:ln>
        </p:spPr>
        <p:txBody>
          <a:bodyPr wrap="square" lIns="731520" tIns="155448" rIns="182880" bIns="146304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F2F5E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Więcej</a:t>
            </a:r>
            <a:endParaRPr lang="en-US" sz="1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A8B1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języków, 12 kolorów, tryb jasny i ciemny.</a:t>
            </a:r>
            <a:endParaRPr lang="en-US" sz="1600" dirty="0"/>
          </a:p>
        </p:txBody>
      </p:sp>
      <p:pic>
        <p:nvPicPr>
          <p:cNvPr id="22" name="anim:3:5:ikona" descr="C:/Users/mati0/AppData/Local/Temp/claude/C--WINDOWS-system32/30057f80-398d-4f2f-892c-2cd7ce912f70/scratchpad/prezentacja/assets/i-mor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83880" y="4736592"/>
            <a:ext cx="384048" cy="3840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5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5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5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5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5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5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5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3" grpId="0" animBg="1"/>
      <p:bldP spid="15" grpId="0" animBg="1"/>
      <p:bldP spid="17" grpId="0" animBg="1"/>
      <p:bldP spid="19" grpId="0" animBg="1"/>
      <p:bldP spid="2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80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881360" y="638251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200" dirty="0">
                <a:solidFill>
                  <a:srgbClr val="6B776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04 / 10</a:t>
            </a:r>
            <a:endParaRPr lang="en-US" sz="1000" dirty="0"/>
          </a:p>
        </p:txBody>
      </p:sp>
      <p:pic>
        <p:nvPicPr>
          <p:cNvPr id="4" name="!!glow" descr="C:/Users/mati0/AppData/Local/Temp/claude/C--WINDOWS-system32/30057f80-398d-4f2f-892c-2cd7ce912f70/scratchpad/prezentacja/assets/poswiat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91440"/>
            <a:ext cx="5852160" cy="5852160"/>
          </a:xfrm>
          <a:prstGeom prst="rect">
            <a:avLst/>
          </a:prstGeom>
        </p:spPr>
      </p:pic>
      <p:sp>
        <p:nvSpPr>
          <p:cNvPr id="5" name="!!horizon"/>
          <p:cNvSpPr/>
          <p:nvPr/>
        </p:nvSpPr>
        <p:spPr>
          <a:xfrm flipV="1">
            <a:off x="-274320" y="5788257"/>
            <a:ext cx="12737592" cy="566823"/>
          </a:xfrm>
          <a:prstGeom prst="line">
            <a:avLst/>
          </a:prstGeom>
          <a:noFill/>
          <a:ln w="22225">
            <a:solidFill>
              <a:srgbClr val="45E499"/>
            </a:solidFill>
            <a:prstDash val="solid"/>
          </a:ln>
        </p:spPr>
      </p:sp>
      <p:sp>
        <p:nvSpPr>
          <p:cNvPr id="6" name="!!horizon2"/>
          <p:cNvSpPr/>
          <p:nvPr/>
        </p:nvSpPr>
        <p:spPr>
          <a:xfrm flipV="1">
            <a:off x="822960" y="6112627"/>
            <a:ext cx="10515600" cy="467944"/>
          </a:xfrm>
          <a:prstGeom prst="line">
            <a:avLst/>
          </a:prstGeom>
          <a:noFill/>
          <a:ln w="12700">
            <a:solidFill>
              <a:srgbClr val="1C3527"/>
            </a:solidFill>
            <a:prstDash val="solid"/>
          </a:ln>
        </p:spPr>
      </p:sp>
      <p:pic>
        <p:nvPicPr>
          <p:cNvPr id="7" name="!!phoneB" descr="C:/Users/mati0/AppData/Local/Temp/claude/C--WINDOWS-system32/30057f80-398d-4f2f-892c-2cd7ce912f70/scratchpad/prezentacja/assets/tel-odde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731520"/>
            <a:ext cx="2852221" cy="5486400"/>
          </a:xfrm>
          <a:prstGeom prst="rect">
            <a:avLst/>
          </a:prstGeom>
        </p:spPr>
      </p:pic>
      <p:pic>
        <p:nvPicPr>
          <p:cNvPr id="8" name="!!phoneA" descr="C:/Users/mati0/AppData/Local/Temp/claude/C--WINDOWS-system32/30057f80-398d-4f2f-892c-2cd7ce912f70/scratchpad/prezentacja/assets/tel-cza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13648" y="320040"/>
            <a:ext cx="3137443" cy="6035040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777240" y="6858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400" dirty="0">
                <a:solidFill>
                  <a:srgbClr val="45E49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ROZMOWA</a:t>
            </a:r>
            <a:endParaRPr lang="en-US" sz="1200" dirty="0"/>
          </a:p>
        </p:txBody>
      </p:sp>
      <p:sp>
        <p:nvSpPr>
          <p:cNvPr id="10" name="Text 4"/>
          <p:cNvSpPr/>
          <p:nvPr/>
        </p:nvSpPr>
        <p:spPr>
          <a:xfrm>
            <a:off x="777240" y="987552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F7F3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Pisz jak do przyjaciela</a:t>
            </a:r>
            <a:endParaRPr lang="en-US" sz="3600" dirty="0"/>
          </a:p>
        </p:txBody>
      </p:sp>
      <p:sp>
        <p:nvSpPr>
          <p:cNvPr id="11" name="Text 5"/>
          <p:cNvSpPr/>
          <p:nvPr/>
        </p:nvSpPr>
        <p:spPr>
          <a:xfrm>
            <a:off x="777240" y="171907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A8B1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Doco najpierw wysłucha, potem podpowie — bez oceniania.</a:t>
            </a:r>
            <a:endParaRPr lang="en-US" sz="1600" dirty="0"/>
          </a:p>
        </p:txBody>
      </p:sp>
      <p:sp>
        <p:nvSpPr>
          <p:cNvPr id="12" name="Text 6"/>
          <p:cNvSpPr/>
          <p:nvPr/>
        </p:nvSpPr>
        <p:spPr>
          <a:xfrm>
            <a:off x="777240" y="2514600"/>
            <a:ext cx="5349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lnSpc>
                <a:spcPct val="108000"/>
              </a:lnSpc>
              <a:spcAft>
                <a:spcPts val="900"/>
              </a:spcAft>
              <a:buSzPct val="100000"/>
              <a:buChar char="◆"/>
            </a:pPr>
            <a:r>
              <a:rPr lang="en-US" sz="1500" dirty="0">
                <a:solidFill>
                  <a:srgbClr val="45E49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Sprawdzona wiedza: </a:t>
            </a:r>
            <a:r>
              <a:rPr lang="en-US" sz="1500" dirty="0">
                <a:solidFill>
                  <a:srgbClr val="F2F5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 tematów, w tym 14 o zdrowiu psychicznym — każdy z podanymi źródłami.</a:t>
            </a:r>
            <a:endParaRPr lang="en-US" sz="1500" dirty="0"/>
          </a:p>
          <a:p>
            <a:pPr marL="279400" indent="-279400">
              <a:lnSpc>
                <a:spcPct val="108000"/>
              </a:lnSpc>
              <a:spcBef>
                <a:spcPts val="300"/>
              </a:spcBef>
              <a:spcAft>
                <a:spcPts val="900"/>
              </a:spcAft>
              <a:buSzPct val="100000"/>
              <a:buChar char="◆"/>
            </a:pPr>
            <a:r>
              <a:rPr lang="en-US" sz="1500" dirty="0">
                <a:solidFill>
                  <a:srgbClr val="45E49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Uczciwie: </a:t>
            </a:r>
            <a:r>
              <a:rPr lang="en-US" sz="1500" dirty="0">
                <a:solidFill>
                  <a:srgbClr val="F2F5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gdy nie ma sprawdzonej odpowiedzi, mówi to wprost, zamiast zgadywać.</a:t>
            </a:r>
            <a:endParaRPr lang="en-US" sz="1500" dirty="0"/>
          </a:p>
          <a:p>
            <a:pPr marL="279400" indent="-279400">
              <a:lnSpc>
                <a:spcPct val="108000"/>
              </a:lnSpc>
              <a:spcBef>
                <a:spcPts val="300"/>
              </a:spcBef>
              <a:spcAft>
                <a:spcPts val="900"/>
              </a:spcAft>
              <a:buSzPct val="100000"/>
              <a:buChar char="◆"/>
            </a:pPr>
            <a:r>
              <a:rPr lang="en-US" sz="1500" dirty="0">
                <a:solidFill>
                  <a:srgbClr val="45E49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 kryzysie: </a:t>
            </a:r>
            <a:r>
              <a:rPr lang="en-US" sz="1500" dirty="0">
                <a:solidFill>
                  <a:srgbClr val="F2F5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od razu numery 112, 116 123 i 800 70 2222.</a:t>
            </a:r>
            <a:endParaRPr lang="en-US" sz="1500" dirty="0"/>
          </a:p>
          <a:p>
            <a:pPr marL="279400" indent="-279400">
              <a:lnSpc>
                <a:spcPct val="108000"/>
              </a:lnSpc>
              <a:spcBef>
                <a:spcPts val="300"/>
              </a:spcBef>
              <a:spcAft>
                <a:spcPts val="900"/>
              </a:spcAft>
              <a:buSzPct val="100000"/>
              <a:buChar char="◆"/>
            </a:pPr>
            <a:r>
              <a:rPr lang="en-US" sz="1500" dirty="0">
                <a:solidFill>
                  <a:srgbClr val="45E49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Oddychaj ze mną: </a:t>
            </a:r>
            <a:r>
              <a:rPr lang="en-US" sz="1500" dirty="0">
                <a:solidFill>
                  <a:srgbClr val="F2F5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minuta spokojnego oddechu, krok po kroku.</a:t>
            </a:r>
            <a:endParaRPr lang="en-US" sz="1500" dirty="0"/>
          </a:p>
          <a:p>
            <a:pPr marL="279400" indent="-279400">
              <a:lnSpc>
                <a:spcPct val="108000"/>
              </a:lnSpc>
              <a:spcBef>
                <a:spcPts val="300"/>
              </a:spcBef>
              <a:spcAft>
                <a:spcPts val="900"/>
              </a:spcAft>
              <a:buSzPct val="100000"/>
              <a:buChar char="◆"/>
            </a:pPr>
            <a:r>
              <a:rPr lang="en-US" sz="1500" dirty="0">
                <a:solidFill>
                  <a:srgbClr val="45E49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Bez logowania: </a:t>
            </a:r>
            <a:r>
              <a:rPr lang="en-US" sz="1500" dirty="0">
                <a:solidFill>
                  <a:srgbClr val="F2F5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pisać można od pierwszej chwili.</a:t>
            </a:r>
            <a:endParaRPr lang="en-US" sz="15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080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881360" y="638251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200" dirty="0">
                <a:solidFill>
                  <a:srgbClr val="6B776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05 / 10</a:t>
            </a:r>
            <a:endParaRPr lang="en-US" sz="1000" dirty="0"/>
          </a:p>
        </p:txBody>
      </p:sp>
      <p:pic>
        <p:nvPicPr>
          <p:cNvPr id="4" name="!!glow" descr="C:/Users/mati0/AppData/Local/Temp/claude/C--WINDOWS-system32/30057f80-398d-4f2f-892c-2cd7ce912f70/scratchpad/prezentacja/assets/poswiat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320040"/>
            <a:ext cx="5852160" cy="5852160"/>
          </a:xfrm>
          <a:prstGeom prst="rect">
            <a:avLst/>
          </a:prstGeom>
        </p:spPr>
      </p:pic>
      <p:sp>
        <p:nvSpPr>
          <p:cNvPr id="5" name="!!horizon"/>
          <p:cNvSpPr/>
          <p:nvPr/>
        </p:nvSpPr>
        <p:spPr>
          <a:xfrm flipV="1">
            <a:off x="-274320" y="3165028"/>
            <a:ext cx="12737592" cy="566823"/>
          </a:xfrm>
          <a:prstGeom prst="line">
            <a:avLst/>
          </a:prstGeom>
          <a:noFill/>
          <a:ln w="22225">
            <a:solidFill>
              <a:srgbClr val="45E499"/>
            </a:solidFill>
            <a:prstDash val="solid"/>
          </a:ln>
        </p:spPr>
      </p:sp>
      <p:sp>
        <p:nvSpPr>
          <p:cNvPr id="6" name="!!horizon2"/>
          <p:cNvSpPr/>
          <p:nvPr/>
        </p:nvSpPr>
        <p:spPr>
          <a:xfrm flipV="1">
            <a:off x="822960" y="3489398"/>
            <a:ext cx="10515600" cy="467944"/>
          </a:xfrm>
          <a:prstGeom prst="line">
            <a:avLst/>
          </a:prstGeom>
          <a:noFill/>
          <a:ln w="12700">
            <a:solidFill>
              <a:srgbClr val="1C3527"/>
            </a:solidFill>
            <a:prstDash val="solid"/>
          </a:ln>
        </p:spPr>
      </p:sp>
      <p:pic>
        <p:nvPicPr>
          <p:cNvPr id="7" name="!!phoneA" descr="C:/Users/mati0/AppData/Local/Temp/claude/C--WINDOWS-system32/30057f80-398d-4f2f-892c-2cd7ce912f70/scratchpad/prezentacja/assets/tel-glo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0" y="320040"/>
            <a:ext cx="3184980" cy="612648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77240" y="6858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400" dirty="0">
                <a:solidFill>
                  <a:srgbClr val="45E49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ROZMOWA GŁOSOWA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777240" y="987552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F7F3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Zadzwoń do Doco</a:t>
            </a:r>
            <a:endParaRPr lang="en-US" sz="4000" dirty="0"/>
          </a:p>
        </p:txBody>
      </p:sp>
      <p:sp>
        <p:nvSpPr>
          <p:cNvPr id="10" name="Text 5"/>
          <p:cNvSpPr/>
          <p:nvPr/>
        </p:nvSpPr>
        <p:spPr>
          <a:xfrm>
            <a:off x="777240" y="175564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A8B1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Rozmowa jak przez telefon — z lemurem, który słucha.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777240" y="2331720"/>
            <a:ext cx="6400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700" i="1" dirty="0">
                <a:solidFill>
                  <a:srgbClr val="C0E4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„Rozumiem, zmęczenie to ciężkie uczucie. Zanim dam ci coś konkretnego — powiedz mi, czy to zmęczenie fizyczne, czy bardziej psychiczne?”</a:t>
            </a:r>
            <a:endParaRPr lang="en-US" sz="1700" dirty="0"/>
          </a:p>
          <a:p>
            <a:pPr marL="0" indent="0">
              <a:buNone/>
            </a:pPr>
            <a:r>
              <a:rPr lang="en-US" sz="1100" kern="0" spc="100" dirty="0">
                <a:solidFill>
                  <a:srgbClr val="6B776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Doco w rozmowie testowej</a:t>
            </a:r>
            <a:endParaRPr lang="en-US" sz="1700" dirty="0"/>
          </a:p>
        </p:txBody>
      </p:sp>
      <p:sp>
        <p:nvSpPr>
          <p:cNvPr id="12" name="Text 7"/>
          <p:cNvSpPr/>
          <p:nvPr/>
        </p:nvSpPr>
        <p:spPr>
          <a:xfrm>
            <a:off x="777240" y="4114800"/>
            <a:ext cx="6492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lnSpc>
                <a:spcPct val="108000"/>
              </a:lnSpc>
              <a:spcAft>
                <a:spcPts val="900"/>
              </a:spcAft>
              <a:buSzPct val="100000"/>
              <a:buChar char="◆"/>
            </a:pPr>
            <a:r>
              <a:rPr lang="en-US" sz="1400" dirty="0">
                <a:solidFill>
                  <a:srgbClr val="45E49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Naturalny głos: </a:t>
            </a:r>
            <a:r>
              <a:rPr lang="en-US" sz="1400" dirty="0">
                <a:solidFill>
                  <a:srgbClr val="F2F5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ElevenLabs, a „mózgiem” jest Claude — ten sam charakter co w czacie.</a:t>
            </a:r>
            <a:endParaRPr lang="en-US" sz="1400" dirty="0"/>
          </a:p>
          <a:p>
            <a:pPr marL="279400" indent="-279400">
              <a:lnSpc>
                <a:spcPct val="108000"/>
              </a:lnSpc>
              <a:spcBef>
                <a:spcPts val="300"/>
              </a:spcBef>
              <a:spcAft>
                <a:spcPts val="900"/>
              </a:spcAft>
              <a:buSzPct val="100000"/>
              <a:buChar char="◆"/>
            </a:pPr>
            <a:r>
              <a:rPr lang="en-US" sz="1400" dirty="0">
                <a:solidFill>
                  <a:srgbClr val="45E49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Jak z człowiekiem: </a:t>
            </a:r>
            <a:r>
              <a:rPr lang="en-US" sz="1400" dirty="0">
                <a:solidFill>
                  <a:srgbClr val="F2F5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mów normalnie, możesz przerwać w każdej chwili.</a:t>
            </a:r>
            <a:endParaRPr lang="en-US" sz="1400" dirty="0"/>
          </a:p>
          <a:p>
            <a:pPr marL="279400" indent="-279400">
              <a:lnSpc>
                <a:spcPct val="108000"/>
              </a:lnSpc>
              <a:spcBef>
                <a:spcPts val="300"/>
              </a:spcBef>
              <a:spcAft>
                <a:spcPts val="900"/>
              </a:spcAft>
              <a:buSzPct val="100000"/>
              <a:buChar char="◆"/>
            </a:pPr>
            <a:r>
              <a:rPr lang="en-US" sz="1400" dirty="0">
                <a:solidFill>
                  <a:srgbClr val="45E49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Po swojemu: </a:t>
            </a:r>
            <a:r>
              <a:rPr lang="en-US" sz="1400" dirty="0">
                <a:solidFill>
                  <a:srgbClr val="F2F5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głosów (3 kobiece, 3 męskie) i 5 języków: polski, angielski, ukraiński, niemiecki, hiszpański.</a:t>
            </a:r>
            <a:endParaRPr lang="en-US" sz="1400" dirty="0"/>
          </a:p>
          <a:p>
            <a:pPr marL="279400" indent="-279400">
              <a:lnSpc>
                <a:spcPct val="108000"/>
              </a:lnSpc>
              <a:spcBef>
                <a:spcPts val="300"/>
              </a:spcBef>
              <a:spcAft>
                <a:spcPts val="900"/>
              </a:spcAft>
              <a:buSzPct val="100000"/>
              <a:buChar char="◆"/>
            </a:pPr>
            <a:r>
              <a:rPr lang="en-US" sz="1400" dirty="0">
                <a:solidFill>
                  <a:srgbClr val="45E49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Lemur żyje: </a:t>
            </a:r>
            <a:r>
              <a:rPr lang="en-US" sz="1400" dirty="0">
                <a:solidFill>
                  <a:srgbClr val="F2F5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kiwa głową, gdy mówisz, i rusza pyszczkiem, gdy odpowiada.</a:t>
            </a:r>
            <a:endParaRPr lang="en-US" sz="1400" dirty="0"/>
          </a:p>
          <a:p>
            <a:pPr marL="279400" indent="-279400">
              <a:lnSpc>
                <a:spcPct val="108000"/>
              </a:lnSpc>
              <a:spcBef>
                <a:spcPts val="300"/>
              </a:spcBef>
              <a:spcAft>
                <a:spcPts val="900"/>
              </a:spcAft>
              <a:buSzPct val="100000"/>
              <a:buChar char="◆"/>
            </a:pPr>
            <a:r>
              <a:rPr lang="en-US" sz="1400" dirty="0">
                <a:solidFill>
                  <a:srgbClr val="45E49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Nic nie ginie: </a:t>
            </a:r>
            <a:r>
              <a:rPr lang="en-US" sz="1400" dirty="0">
                <a:solidFill>
                  <a:srgbClr val="F2F5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 rozmowie zapis trafia do czatu, można pisać dalej.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777240" y="6327648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7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Dla zalogowanych  ·  na razie wersja testowa na darmowej licencji ElevenLabs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080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881360" y="638251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200" dirty="0">
                <a:solidFill>
                  <a:srgbClr val="6B776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06 / 10</a:t>
            </a:r>
            <a:endParaRPr lang="en-US" sz="1000" dirty="0"/>
          </a:p>
        </p:txBody>
      </p:sp>
      <p:pic>
        <p:nvPicPr>
          <p:cNvPr id="4" name="!!glow" descr="C:/Users/mati0/AppData/Local/Temp/claude/C--WINDOWS-system32/30057f80-398d-4f2f-892c-2cd7ce912f70/scratchpad/prezentacja/assets/poswiat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91440"/>
            <a:ext cx="5852160" cy="5852160"/>
          </a:xfrm>
          <a:prstGeom prst="rect">
            <a:avLst/>
          </a:prstGeom>
        </p:spPr>
      </p:pic>
      <p:sp>
        <p:nvSpPr>
          <p:cNvPr id="5" name="!!horizon"/>
          <p:cNvSpPr/>
          <p:nvPr/>
        </p:nvSpPr>
        <p:spPr>
          <a:xfrm flipV="1">
            <a:off x="-274320" y="5788257"/>
            <a:ext cx="12737592" cy="566823"/>
          </a:xfrm>
          <a:prstGeom prst="line">
            <a:avLst/>
          </a:prstGeom>
          <a:noFill/>
          <a:ln w="22225">
            <a:solidFill>
              <a:srgbClr val="45E499"/>
            </a:solidFill>
            <a:prstDash val="solid"/>
          </a:ln>
        </p:spPr>
      </p:sp>
      <p:sp>
        <p:nvSpPr>
          <p:cNvPr id="6" name="!!horizon2"/>
          <p:cNvSpPr/>
          <p:nvPr/>
        </p:nvSpPr>
        <p:spPr>
          <a:xfrm flipV="1">
            <a:off x="822960" y="6112627"/>
            <a:ext cx="10515600" cy="467944"/>
          </a:xfrm>
          <a:prstGeom prst="line">
            <a:avLst/>
          </a:prstGeom>
          <a:noFill/>
          <a:ln w="12700">
            <a:solidFill>
              <a:srgbClr val="1C3527"/>
            </a:solidFill>
            <a:prstDash val="solid"/>
          </a:ln>
        </p:spPr>
      </p:sp>
      <p:pic>
        <p:nvPicPr>
          <p:cNvPr id="7" name="!!phoneB" descr="C:/Users/mati0/AppData/Local/Temp/claude/C--WINDOWS-system32/30057f80-398d-4f2f-892c-2cd7ce912f70/scratchpad/prezentacja/assets/tel-objawy-map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731520"/>
            <a:ext cx="2852221" cy="5486400"/>
          </a:xfrm>
          <a:prstGeom prst="rect">
            <a:avLst/>
          </a:prstGeom>
        </p:spPr>
      </p:pic>
      <p:pic>
        <p:nvPicPr>
          <p:cNvPr id="8" name="!!phoneA" descr="C:/Users/mati0/AppData/Local/Temp/claude/C--WINDOWS-system32/30057f80-398d-4f2f-892c-2cd7ce912f70/scratchpad/prezentacja/assets/tel-objawy-wyni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13648" y="320040"/>
            <a:ext cx="3137443" cy="6035040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777240" y="6858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400" dirty="0">
                <a:solidFill>
                  <a:srgbClr val="45E49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OBJAWY  ·  GDZIE BOLI?</a:t>
            </a:r>
            <a:endParaRPr lang="en-US" sz="1200" dirty="0"/>
          </a:p>
        </p:txBody>
      </p:sp>
      <p:sp>
        <p:nvSpPr>
          <p:cNvPr id="10" name="Text 4"/>
          <p:cNvSpPr/>
          <p:nvPr/>
        </p:nvSpPr>
        <p:spPr>
          <a:xfrm>
            <a:off x="777240" y="987552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F7F3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Trzy kroki do oceny</a:t>
            </a:r>
            <a:endParaRPr lang="en-US" sz="3600" dirty="0"/>
          </a:p>
        </p:txBody>
      </p:sp>
      <p:sp>
        <p:nvSpPr>
          <p:cNvPr id="11" name="anim:6:0"/>
          <p:cNvSpPr/>
          <p:nvPr/>
        </p:nvSpPr>
        <p:spPr>
          <a:xfrm>
            <a:off x="777240" y="1828800"/>
            <a:ext cx="5349240" cy="868680"/>
          </a:xfrm>
          <a:prstGeom prst="snip1Rect">
            <a:avLst/>
          </a:prstGeom>
          <a:solidFill>
            <a:srgbClr val="0C130F"/>
          </a:solidFill>
          <a:ln w="12700">
            <a:solidFill>
              <a:srgbClr val="1E2D24"/>
            </a:solidFill>
          </a:ln>
        </p:spPr>
        <p:txBody>
          <a:bodyPr wrap="square" lIns="786384" tIns="139903" rIns="164592" bIns="131674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2F5E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Miejsce</a:t>
            </a:r>
            <a:endParaRPr lang="en-US" sz="15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A8B1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Stuknij na sylwetce albo wpisz objaw, np. kaszel.</a:t>
            </a:r>
            <a:endParaRPr lang="en-US" sz="1500" dirty="0"/>
          </a:p>
        </p:txBody>
      </p:sp>
      <p:sp>
        <p:nvSpPr>
          <p:cNvPr id="12" name="anim:6:0:nr"/>
          <p:cNvSpPr/>
          <p:nvPr/>
        </p:nvSpPr>
        <p:spPr>
          <a:xfrm>
            <a:off x="941832" y="2011680"/>
            <a:ext cx="457200" cy="457200"/>
          </a:xfrm>
          <a:prstGeom prst="octagon">
            <a:avLst/>
          </a:prstGeom>
          <a:solidFill>
            <a:srgbClr val="45E499"/>
          </a:solidFill>
          <a:ln>
            <a:solidFill>
              <a:srgbClr val="45E49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414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anim:6:1"/>
          <p:cNvSpPr/>
          <p:nvPr/>
        </p:nvSpPr>
        <p:spPr>
          <a:xfrm>
            <a:off x="777240" y="2807208"/>
            <a:ext cx="5349240" cy="868680"/>
          </a:xfrm>
          <a:prstGeom prst="snip1Rect">
            <a:avLst/>
          </a:prstGeom>
          <a:solidFill>
            <a:srgbClr val="0C130F"/>
          </a:solidFill>
          <a:ln w="12700">
            <a:solidFill>
              <a:srgbClr val="1E2D24"/>
            </a:solidFill>
          </a:ln>
        </p:spPr>
        <p:txBody>
          <a:bodyPr wrap="square" lIns="786384" tIns="139903" rIns="164592" bIns="131674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2F5E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Pytania</a:t>
            </a:r>
            <a:endParaRPr lang="en-US" sz="15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A8B1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Najpierw alarmowe. Potem osobno dla każdego objawu: siła 1–10, od kiedy, czy się nasila.</a:t>
            </a:r>
            <a:endParaRPr lang="en-US" sz="1500" dirty="0"/>
          </a:p>
        </p:txBody>
      </p:sp>
      <p:sp>
        <p:nvSpPr>
          <p:cNvPr id="14" name="anim:6:1:nr"/>
          <p:cNvSpPr/>
          <p:nvPr/>
        </p:nvSpPr>
        <p:spPr>
          <a:xfrm>
            <a:off x="941832" y="2990088"/>
            <a:ext cx="457200" cy="457200"/>
          </a:xfrm>
          <a:prstGeom prst="octagon">
            <a:avLst/>
          </a:prstGeom>
          <a:solidFill>
            <a:srgbClr val="45E499"/>
          </a:solidFill>
          <a:ln>
            <a:solidFill>
              <a:srgbClr val="45E49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414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anim:6:2"/>
          <p:cNvSpPr/>
          <p:nvPr/>
        </p:nvSpPr>
        <p:spPr>
          <a:xfrm>
            <a:off x="777240" y="3785616"/>
            <a:ext cx="5349240" cy="868680"/>
          </a:xfrm>
          <a:prstGeom prst="snip1Rect">
            <a:avLst/>
          </a:prstGeom>
          <a:solidFill>
            <a:srgbClr val="0C130F"/>
          </a:solidFill>
          <a:ln w="12700">
            <a:solidFill>
              <a:srgbClr val="1E2D24"/>
            </a:solidFill>
          </a:ln>
        </p:spPr>
        <p:txBody>
          <a:bodyPr wrap="square" lIns="786384" tIns="139903" rIns="164592" bIns="131674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2F5E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Wynik</a:t>
            </a:r>
            <a:endParaRPr lang="en-US" sz="15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A8B1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Zalecenie dla każdego objawu i dla wszystkich razem, z możliwymi przyczynami.</a:t>
            </a:r>
            <a:endParaRPr lang="en-US" sz="1500" dirty="0"/>
          </a:p>
        </p:txBody>
      </p:sp>
      <p:sp>
        <p:nvSpPr>
          <p:cNvPr id="16" name="anim:6:2:nr"/>
          <p:cNvSpPr/>
          <p:nvPr/>
        </p:nvSpPr>
        <p:spPr>
          <a:xfrm>
            <a:off x="941832" y="3968496"/>
            <a:ext cx="457200" cy="457200"/>
          </a:xfrm>
          <a:prstGeom prst="octagon">
            <a:avLst/>
          </a:prstGeom>
          <a:solidFill>
            <a:srgbClr val="45E499"/>
          </a:solidFill>
          <a:ln>
            <a:solidFill>
              <a:srgbClr val="45E49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414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anim:6:3"/>
          <p:cNvSpPr/>
          <p:nvPr/>
        </p:nvSpPr>
        <p:spPr>
          <a:xfrm>
            <a:off x="777240" y="4846320"/>
            <a:ext cx="1289304" cy="384048"/>
          </a:xfrm>
          <a:prstGeom prst="snip1Rect">
            <a:avLst/>
          </a:prstGeom>
          <a:solidFill>
            <a:srgbClr val="45E499"/>
          </a:solidFill>
          <a:ln>
            <a:solidFill>
              <a:srgbClr val="45E49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4140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Samoopieka</a:t>
            </a:r>
            <a:endParaRPr lang="en-US" sz="1050" dirty="0"/>
          </a:p>
        </p:txBody>
      </p:sp>
      <p:sp>
        <p:nvSpPr>
          <p:cNvPr id="18" name="anim:6:4"/>
          <p:cNvSpPr/>
          <p:nvPr/>
        </p:nvSpPr>
        <p:spPr>
          <a:xfrm>
            <a:off x="2130552" y="4846320"/>
            <a:ext cx="1289304" cy="384048"/>
          </a:xfrm>
          <a:prstGeom prst="snip1Rect">
            <a:avLst/>
          </a:prstGeom>
          <a:solidFill>
            <a:srgbClr val="F5C451"/>
          </a:solidFill>
          <a:ln>
            <a:solidFill>
              <a:srgbClr val="F5C45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4140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Wizyta u lekarza</a:t>
            </a:r>
            <a:endParaRPr lang="en-US" sz="1050" dirty="0"/>
          </a:p>
        </p:txBody>
      </p:sp>
      <p:sp>
        <p:nvSpPr>
          <p:cNvPr id="19" name="anim:6:5"/>
          <p:cNvSpPr/>
          <p:nvPr/>
        </p:nvSpPr>
        <p:spPr>
          <a:xfrm>
            <a:off x="3483864" y="4846320"/>
            <a:ext cx="1289304" cy="384048"/>
          </a:xfrm>
          <a:prstGeom prst="snip1Rect">
            <a:avLst/>
          </a:prstGeom>
          <a:solidFill>
            <a:srgbClr val="FF9F43"/>
          </a:solidFill>
          <a:ln>
            <a:solidFill>
              <a:srgbClr val="FF9F4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4140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Pilna konsultacja</a:t>
            </a:r>
            <a:endParaRPr lang="en-US" sz="1050" dirty="0"/>
          </a:p>
        </p:txBody>
      </p:sp>
      <p:sp>
        <p:nvSpPr>
          <p:cNvPr id="20" name="anim:6:6"/>
          <p:cNvSpPr/>
          <p:nvPr/>
        </p:nvSpPr>
        <p:spPr>
          <a:xfrm>
            <a:off x="4837176" y="4846320"/>
            <a:ext cx="1289304" cy="384048"/>
          </a:xfrm>
          <a:prstGeom prst="snip1Rect">
            <a:avLst/>
          </a:prstGeom>
          <a:solidFill>
            <a:srgbClr val="FF6B5E"/>
          </a:solidFill>
          <a:ln>
            <a:solidFill>
              <a:srgbClr val="FF6B5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4140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Stan nagły · 112</a:t>
            </a:r>
            <a:endParaRPr lang="en-US" sz="1050" dirty="0"/>
          </a:p>
        </p:txBody>
      </p:sp>
      <p:sp>
        <p:nvSpPr>
          <p:cNvPr id="21" name="Text 15"/>
          <p:cNvSpPr/>
          <p:nvPr/>
        </p:nvSpPr>
        <p:spPr>
          <a:xfrm>
            <a:off x="777240" y="54406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5E49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160</a:t>
            </a:r>
            <a:r>
              <a:rPr lang="en-US" sz="1350" dirty="0">
                <a:solidFill>
                  <a:srgbClr val="A8B1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objawów   ·   </a:t>
            </a:r>
            <a:r>
              <a:rPr lang="en-US" sz="1350" dirty="0">
                <a:solidFill>
                  <a:srgbClr val="45E49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97</a:t>
            </a:r>
            <a:r>
              <a:rPr lang="en-US" sz="1350" dirty="0">
                <a:solidFill>
                  <a:srgbClr val="A8B1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możliwych przyczyn   ·   </a:t>
            </a:r>
            <a:r>
              <a:rPr lang="en-US" sz="1350" dirty="0">
                <a:solidFill>
                  <a:srgbClr val="45E49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20</a:t>
            </a:r>
            <a:r>
              <a:rPr lang="en-US" sz="1350" dirty="0">
                <a:solidFill>
                  <a:srgbClr val="A8B1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pytań alarmowych</a:t>
            </a:r>
            <a:endParaRPr lang="en-US" sz="13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5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5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5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5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87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5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080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881360" y="638251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200" dirty="0">
                <a:solidFill>
                  <a:srgbClr val="6B776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07 / 10</a:t>
            </a:r>
            <a:endParaRPr lang="en-US" sz="1000" dirty="0"/>
          </a:p>
        </p:txBody>
      </p:sp>
      <p:pic>
        <p:nvPicPr>
          <p:cNvPr id="4" name="!!glow" descr="C:/Users/mati0/AppData/Local/Temp/claude/C--WINDOWS-system32/30057f80-398d-4f2f-892c-2cd7ce912f70/scratchpad/prezentacja/assets/poswiat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822960" y="91440"/>
            <a:ext cx="5852160" cy="5852160"/>
          </a:xfrm>
          <a:prstGeom prst="rect">
            <a:avLst/>
          </a:prstGeom>
        </p:spPr>
      </p:pic>
      <p:sp>
        <p:nvSpPr>
          <p:cNvPr id="5" name="!!horizon"/>
          <p:cNvSpPr/>
          <p:nvPr/>
        </p:nvSpPr>
        <p:spPr>
          <a:xfrm flipV="1">
            <a:off x="-274320" y="5788257"/>
            <a:ext cx="12737592" cy="566823"/>
          </a:xfrm>
          <a:prstGeom prst="line">
            <a:avLst/>
          </a:prstGeom>
          <a:noFill/>
          <a:ln w="22225">
            <a:solidFill>
              <a:srgbClr val="45E499"/>
            </a:solidFill>
            <a:prstDash val="solid"/>
          </a:ln>
        </p:spPr>
      </p:sp>
      <p:sp>
        <p:nvSpPr>
          <p:cNvPr id="6" name="!!horizon2"/>
          <p:cNvSpPr/>
          <p:nvPr/>
        </p:nvSpPr>
        <p:spPr>
          <a:xfrm flipV="1">
            <a:off x="822960" y="6112627"/>
            <a:ext cx="10515600" cy="467944"/>
          </a:xfrm>
          <a:prstGeom prst="line">
            <a:avLst/>
          </a:prstGeom>
          <a:noFill/>
          <a:ln w="12700">
            <a:solidFill>
              <a:srgbClr val="1C3527"/>
            </a:solidFill>
            <a:prstDash val="solid"/>
          </a:ln>
        </p:spPr>
      </p:sp>
      <p:pic>
        <p:nvPicPr>
          <p:cNvPr id="7" name="!!phoneB" descr="C:/Users/mati0/AppData/Local/Temp/claude/C--WINDOWS-system32/30057f80-398d-4f2f-892c-2cd7ce912f70/scratchpad/prezentacja/assets/tel-cial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731520"/>
            <a:ext cx="2852221" cy="5486400"/>
          </a:xfrm>
          <a:prstGeom prst="rect">
            <a:avLst/>
          </a:prstGeom>
        </p:spPr>
      </p:pic>
      <p:pic>
        <p:nvPicPr>
          <p:cNvPr id="8" name="!!phoneA" descr="C:/Users/mati0/AppData/Local/Temp/claude/C--WINDOWS-system32/30057f80-398d-4f2f-892c-2cd7ce912f70/scratchpad/prezentacja/assets/tel-cialo-kart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34640" y="320040"/>
            <a:ext cx="3137443" cy="6035040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6355080" y="6858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400" dirty="0">
                <a:solidFill>
                  <a:srgbClr val="45E49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CIAŁO  ·  ATLAS 3D</a:t>
            </a:r>
            <a:endParaRPr lang="en-US" sz="1200" dirty="0"/>
          </a:p>
        </p:txBody>
      </p:sp>
      <p:sp>
        <p:nvSpPr>
          <p:cNvPr id="10" name="Text 4"/>
          <p:cNvSpPr/>
          <p:nvPr/>
        </p:nvSpPr>
        <p:spPr>
          <a:xfrm>
            <a:off x="6355080" y="987552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F7F3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Poznaj swoje ciało</a:t>
            </a:r>
            <a:endParaRPr lang="en-US" sz="3600" dirty="0"/>
          </a:p>
        </p:txBody>
      </p:sp>
      <p:sp>
        <p:nvSpPr>
          <p:cNvPr id="11" name="Text 5"/>
          <p:cNvSpPr/>
          <p:nvPr/>
        </p:nvSpPr>
        <p:spPr>
          <a:xfrm>
            <a:off x="6355080" y="1719072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A8B1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 3D, który można obracać i dotykać.</a:t>
            </a:r>
            <a:endParaRPr lang="en-US" sz="1600" dirty="0"/>
          </a:p>
        </p:txBody>
      </p:sp>
      <p:sp>
        <p:nvSpPr>
          <p:cNvPr id="12" name="Text 6"/>
          <p:cNvSpPr/>
          <p:nvPr/>
        </p:nvSpPr>
        <p:spPr>
          <a:xfrm>
            <a:off x="6355080" y="2514600"/>
            <a:ext cx="52578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lnSpc>
                <a:spcPct val="108000"/>
              </a:lnSpc>
              <a:spcAft>
                <a:spcPts val="900"/>
              </a:spcAft>
              <a:buSzPct val="100000"/>
              <a:buChar char="◆"/>
            </a:pPr>
            <a:r>
              <a:rPr lang="en-US" sz="1500" dirty="0">
                <a:solidFill>
                  <a:srgbClr val="45E49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Warstwy: </a:t>
            </a:r>
            <a:r>
              <a:rPr lang="en-US" sz="1500" dirty="0">
                <a:solidFill>
                  <a:srgbClr val="F2F5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Mięśnie, Narządy i Osobno — narządy rozsunięte, żeby łatwo je wybrać.</a:t>
            </a:r>
            <a:endParaRPr lang="en-US" sz="1500" dirty="0"/>
          </a:p>
          <a:p>
            <a:pPr marL="279400" indent="-279400">
              <a:lnSpc>
                <a:spcPct val="108000"/>
              </a:lnSpc>
              <a:spcBef>
                <a:spcPts val="300"/>
              </a:spcBef>
              <a:spcAft>
                <a:spcPts val="900"/>
              </a:spcAft>
              <a:buSzPct val="100000"/>
              <a:buChar char="◆"/>
            </a:pPr>
            <a:r>
              <a:rPr lang="en-US" sz="1500" dirty="0">
                <a:solidFill>
                  <a:srgbClr val="45E49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Dla każdego: </a:t>
            </a:r>
            <a:r>
              <a:rPr lang="en-US" sz="1500" dirty="0">
                <a:solidFill>
                  <a:srgbClr val="F2F5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kobieta i mężczyzna, przód i tył.</a:t>
            </a:r>
            <a:endParaRPr lang="en-US" sz="1500" dirty="0"/>
          </a:p>
          <a:p>
            <a:pPr marL="279400" indent="-279400">
              <a:lnSpc>
                <a:spcPct val="108000"/>
              </a:lnSpc>
              <a:spcBef>
                <a:spcPts val="300"/>
              </a:spcBef>
              <a:spcAft>
                <a:spcPts val="900"/>
              </a:spcAft>
              <a:buSzPct val="100000"/>
              <a:buChar char="◆"/>
            </a:pPr>
            <a:r>
              <a:rPr lang="en-US" sz="1500" dirty="0">
                <a:solidFill>
                  <a:srgbClr val="45E49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Karta części: </a:t>
            </a:r>
            <a:r>
              <a:rPr lang="en-US" sz="1500" dirty="0">
                <a:solidFill>
                  <a:srgbClr val="F2F5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 to jest i do czego służy, a przy mięśniach — ćwiczenia.</a:t>
            </a:r>
            <a:endParaRPr lang="en-US" sz="1500" dirty="0"/>
          </a:p>
          <a:p>
            <a:pPr marL="279400" indent="-279400">
              <a:lnSpc>
                <a:spcPct val="108000"/>
              </a:lnSpc>
              <a:spcBef>
                <a:spcPts val="300"/>
              </a:spcBef>
              <a:spcAft>
                <a:spcPts val="900"/>
              </a:spcAft>
              <a:buSzPct val="100000"/>
              <a:buChar char="◆"/>
            </a:pPr>
            <a:r>
              <a:rPr lang="en-US" sz="1500" dirty="0">
                <a:solidFill>
                  <a:srgbClr val="45E49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Głosem: </a:t>
            </a:r>
            <a:r>
              <a:rPr lang="en-US" sz="1500" dirty="0">
                <a:solidFill>
                  <a:srgbClr val="F2F5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zapytaj „gdzie jest wątroba?”, a Doco pokaże to miejsce.</a:t>
            </a:r>
            <a:endParaRPr lang="en-US" sz="1500" dirty="0"/>
          </a:p>
          <a:p>
            <a:pPr marL="279400" indent="-279400">
              <a:lnSpc>
                <a:spcPct val="108000"/>
              </a:lnSpc>
              <a:spcBef>
                <a:spcPts val="300"/>
              </a:spcBef>
              <a:spcAft>
                <a:spcPts val="900"/>
              </a:spcAft>
              <a:buSzPct val="100000"/>
              <a:buChar char="◆"/>
            </a:pPr>
            <a:r>
              <a:rPr lang="en-US" sz="1500" dirty="0">
                <a:solidFill>
                  <a:srgbClr val="45E49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Szukaj: </a:t>
            </a:r>
            <a:r>
              <a:rPr lang="en-US" sz="1500" dirty="0">
                <a:solidFill>
                  <a:srgbClr val="F2F5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każdą część znajdziesz po polskiej nazwie.</a:t>
            </a:r>
            <a:endParaRPr lang="en-US" sz="15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5080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881360" y="638251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200" dirty="0">
                <a:solidFill>
                  <a:srgbClr val="6B776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08 / 10</a:t>
            </a:r>
            <a:endParaRPr lang="en-US" sz="1000" dirty="0"/>
          </a:p>
        </p:txBody>
      </p:sp>
      <p:pic>
        <p:nvPicPr>
          <p:cNvPr id="4" name="!!glow" descr="C:/Users/mati0/AppData/Local/Temp/claude/C--WINDOWS-system32/30057f80-398d-4f2f-892c-2cd7ce912f70/scratchpad/prezentacja/assets/poswiat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91440"/>
            <a:ext cx="5852160" cy="5852160"/>
          </a:xfrm>
          <a:prstGeom prst="rect">
            <a:avLst/>
          </a:prstGeom>
        </p:spPr>
      </p:pic>
      <p:sp>
        <p:nvSpPr>
          <p:cNvPr id="5" name="!!horizon"/>
          <p:cNvSpPr/>
          <p:nvPr/>
        </p:nvSpPr>
        <p:spPr>
          <a:xfrm flipV="1">
            <a:off x="-274320" y="5788257"/>
            <a:ext cx="12737592" cy="566823"/>
          </a:xfrm>
          <a:prstGeom prst="line">
            <a:avLst/>
          </a:prstGeom>
          <a:noFill/>
          <a:ln w="22225">
            <a:solidFill>
              <a:srgbClr val="45E499"/>
            </a:solidFill>
            <a:prstDash val="solid"/>
          </a:ln>
        </p:spPr>
      </p:sp>
      <p:sp>
        <p:nvSpPr>
          <p:cNvPr id="6" name="!!horizon2"/>
          <p:cNvSpPr/>
          <p:nvPr/>
        </p:nvSpPr>
        <p:spPr>
          <a:xfrm flipV="1">
            <a:off x="822960" y="6112627"/>
            <a:ext cx="10515600" cy="467944"/>
          </a:xfrm>
          <a:prstGeom prst="line">
            <a:avLst/>
          </a:prstGeom>
          <a:noFill/>
          <a:ln w="12700">
            <a:solidFill>
              <a:srgbClr val="1C3527"/>
            </a:solidFill>
            <a:prstDash val="solid"/>
          </a:ln>
        </p:spPr>
      </p:sp>
      <p:pic>
        <p:nvPicPr>
          <p:cNvPr id="7" name="!!phoneB" descr="C:/Users/mati0/AppData/Local/Temp/claude/C--WINDOWS-system32/30057f80-398d-4f2f-892c-2cd7ce912f70/scratchpad/prezentacja/assets/tel-nastroj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731520"/>
            <a:ext cx="2852221" cy="5486400"/>
          </a:xfrm>
          <a:prstGeom prst="rect">
            <a:avLst/>
          </a:prstGeom>
        </p:spPr>
      </p:pic>
      <p:pic>
        <p:nvPicPr>
          <p:cNvPr id="8" name="!!phoneA" descr="C:/Users/mati0/AppData/Local/Temp/claude/C--WINDOWS-system32/30057f80-398d-4f2f-892c-2cd7ce912f70/scratchpad/prezentacja/assets/tel-dzienni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13648" y="320040"/>
            <a:ext cx="3137443" cy="6035040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777240" y="6858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400" dirty="0">
                <a:solidFill>
                  <a:srgbClr val="45E49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NASTRÓJ I DZIENNIK</a:t>
            </a:r>
            <a:endParaRPr lang="en-US" sz="1200" dirty="0"/>
          </a:p>
        </p:txBody>
      </p:sp>
      <p:sp>
        <p:nvSpPr>
          <p:cNvPr id="10" name="Text 4"/>
          <p:cNvSpPr/>
          <p:nvPr/>
        </p:nvSpPr>
        <p:spPr>
          <a:xfrm>
            <a:off x="777240" y="987552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F7F3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Widać, co się powtarza</a:t>
            </a:r>
            <a:endParaRPr lang="en-US" sz="3600" dirty="0"/>
          </a:p>
        </p:txBody>
      </p:sp>
      <p:sp>
        <p:nvSpPr>
          <p:cNvPr id="11" name="Text 5"/>
          <p:cNvSpPr/>
          <p:nvPr/>
        </p:nvSpPr>
        <p:spPr>
          <a:xfrm>
            <a:off x="777240" y="171907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A8B1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…i łatwiej opowiedzieć o tym lekarzowi.</a:t>
            </a:r>
            <a:endParaRPr lang="en-US" sz="1600" dirty="0"/>
          </a:p>
        </p:txBody>
      </p:sp>
      <p:sp>
        <p:nvSpPr>
          <p:cNvPr id="12" name="anim:8:0"/>
          <p:cNvSpPr/>
          <p:nvPr/>
        </p:nvSpPr>
        <p:spPr>
          <a:xfrm>
            <a:off x="777240" y="2377440"/>
            <a:ext cx="5349240" cy="1051560"/>
          </a:xfrm>
          <a:prstGeom prst="snip1Rect">
            <a:avLst/>
          </a:prstGeom>
          <a:solidFill>
            <a:srgbClr val="0C130F"/>
          </a:solidFill>
          <a:ln w="12700">
            <a:solidFill>
              <a:srgbClr val="1E2D24"/>
            </a:solidFill>
          </a:ln>
        </p:spPr>
        <p:txBody>
          <a:bodyPr wrap="square" lIns="749808" tIns="170993" rIns="201168" bIns="160934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F2F5E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Nastrój</a:t>
            </a:r>
            <a:endParaRPr lang="en-US" sz="1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A8B1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Jedna z pięciu twarzy dziennie i notatka, jeśli chcesz. Cały tydzień na jednym pasku.</a:t>
            </a:r>
            <a:endParaRPr lang="en-US" sz="1600" dirty="0"/>
          </a:p>
        </p:txBody>
      </p:sp>
      <p:pic>
        <p:nvPicPr>
          <p:cNvPr id="13" name="anim:8:0:ikona" descr="C:/Users/mati0/AppData/Local/Temp/claude/C--WINDOWS-system32/30057f80-398d-4f2f-892c-2cd7ce912f70/scratchpad/prezentacja/assets/i-moo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8408" y="2596896"/>
            <a:ext cx="384048" cy="384048"/>
          </a:xfrm>
          <a:prstGeom prst="rect">
            <a:avLst/>
          </a:prstGeom>
        </p:spPr>
      </p:pic>
      <p:sp>
        <p:nvSpPr>
          <p:cNvPr id="14" name="anim:8:1"/>
          <p:cNvSpPr/>
          <p:nvPr/>
        </p:nvSpPr>
        <p:spPr>
          <a:xfrm>
            <a:off x="777240" y="3538728"/>
            <a:ext cx="5349240" cy="1051560"/>
          </a:xfrm>
          <a:prstGeom prst="snip1Rect">
            <a:avLst/>
          </a:prstGeom>
          <a:solidFill>
            <a:srgbClr val="0C130F"/>
          </a:solidFill>
          <a:ln w="12700">
            <a:solidFill>
              <a:srgbClr val="1E2D24"/>
            </a:solidFill>
          </a:ln>
        </p:spPr>
        <p:txBody>
          <a:bodyPr wrap="square" lIns="749808" tIns="170993" rIns="201168" bIns="160934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F2F5E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Dziennik</a:t>
            </a:r>
            <a:endParaRPr lang="en-US" sz="1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A8B1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Ostatnie 30 dni w czterech kafelkach: dni z bólem, średnie nasilenie, najczęstsze miejsce bólu i średni nastrój.</a:t>
            </a:r>
            <a:endParaRPr lang="en-US" sz="1600" dirty="0"/>
          </a:p>
        </p:txBody>
      </p:sp>
      <p:pic>
        <p:nvPicPr>
          <p:cNvPr id="15" name="anim:8:1:ikona" descr="C:/Users/mati0/AppData/Local/Temp/claude/C--WINDOWS-system32/30057f80-398d-4f2f-892c-2cd7ce912f70/scratchpad/prezentacja/assets/i-diar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8408" y="3758184"/>
            <a:ext cx="384048" cy="384048"/>
          </a:xfrm>
          <a:prstGeom prst="rect">
            <a:avLst/>
          </a:prstGeom>
        </p:spPr>
      </p:pic>
      <p:sp>
        <p:nvSpPr>
          <p:cNvPr id="16" name="anim:8:2"/>
          <p:cNvSpPr/>
          <p:nvPr/>
        </p:nvSpPr>
        <p:spPr>
          <a:xfrm>
            <a:off x="777240" y="4700016"/>
            <a:ext cx="5349240" cy="1051560"/>
          </a:xfrm>
          <a:prstGeom prst="snip1Rect">
            <a:avLst/>
          </a:prstGeom>
          <a:solidFill>
            <a:srgbClr val="0C130F"/>
          </a:solidFill>
          <a:ln w="12700">
            <a:solidFill>
              <a:srgbClr val="1E2D24"/>
            </a:solidFill>
          </a:ln>
        </p:spPr>
        <p:txBody>
          <a:bodyPr wrap="square" lIns="749808" tIns="170993" rIns="201168" bIns="160934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F2F5E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Prosto z Objawów</a:t>
            </a:r>
            <a:endParaRPr lang="en-US" sz="1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A8B1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Ból trafia do dziennika jednym przyciskiem. Wpisy od najnowszego.</a:t>
            </a:r>
            <a:endParaRPr lang="en-US" sz="1600" dirty="0"/>
          </a:p>
        </p:txBody>
      </p:sp>
      <p:pic>
        <p:nvPicPr>
          <p:cNvPr id="17" name="anim:8:2:ikona" descr="C:/Users/mati0/AppData/Local/Temp/claude/C--WINDOWS-system32/30057f80-398d-4f2f-892c-2cd7ce912f70/scratchpad/prezentacja/assets/i-symptom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8408" y="4919472"/>
            <a:ext cx="384048" cy="3840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5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4" grpId="0" animBg="1"/>
      <p:bldP spid="1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5080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881360" y="638251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200" dirty="0">
                <a:solidFill>
                  <a:srgbClr val="6B776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09 / 10</a:t>
            </a:r>
            <a:endParaRPr lang="en-US" sz="1000" dirty="0"/>
          </a:p>
        </p:txBody>
      </p:sp>
      <p:pic>
        <p:nvPicPr>
          <p:cNvPr id="4" name="!!glow" descr="C:/Users/mati0/AppData/Local/Temp/claude/C--WINDOWS-system32/30057f80-398d-4f2f-892c-2cd7ce912f70/scratchpad/prezentacja/assets/poswiata-szalwi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463040" y="365760"/>
            <a:ext cx="5852160" cy="5852160"/>
          </a:xfrm>
          <a:prstGeom prst="rect">
            <a:avLst/>
          </a:prstGeom>
        </p:spPr>
      </p:pic>
      <p:sp>
        <p:nvSpPr>
          <p:cNvPr id="5" name="!!horizon"/>
          <p:cNvSpPr/>
          <p:nvPr/>
        </p:nvSpPr>
        <p:spPr>
          <a:xfrm flipV="1">
            <a:off x="-274320" y="5788257"/>
            <a:ext cx="12737592" cy="566823"/>
          </a:xfrm>
          <a:prstGeom prst="line">
            <a:avLst/>
          </a:prstGeom>
          <a:noFill/>
          <a:ln w="22225">
            <a:solidFill>
              <a:srgbClr val="45E499"/>
            </a:solidFill>
            <a:prstDash val="solid"/>
          </a:ln>
        </p:spPr>
      </p:sp>
      <p:sp>
        <p:nvSpPr>
          <p:cNvPr id="6" name="!!horizon2"/>
          <p:cNvSpPr/>
          <p:nvPr/>
        </p:nvSpPr>
        <p:spPr>
          <a:xfrm flipV="1">
            <a:off x="822960" y="6112627"/>
            <a:ext cx="10515600" cy="467944"/>
          </a:xfrm>
          <a:prstGeom prst="line">
            <a:avLst/>
          </a:prstGeom>
          <a:noFill/>
          <a:ln w="12700">
            <a:solidFill>
              <a:srgbClr val="1C3527"/>
            </a:solidFill>
            <a:prstDash val="solid"/>
          </a:ln>
        </p:spPr>
      </p:sp>
      <p:pic>
        <p:nvPicPr>
          <p:cNvPr id="7" name="!!phoneA" descr="C:/Users/mati0/AppData/Local/Temp/claude/C--WINDOWS-system32/30057f80-398d-4f2f-892c-2cd7ce912f70/scratchpad/prezentacja/assets/tel-kolo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65760"/>
            <a:ext cx="3184980" cy="612648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343400" y="6858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400" dirty="0">
                <a:solidFill>
                  <a:srgbClr val="45E49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ZAUFANIE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4343400" y="987552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F7F3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Bezpiecznie i po swojemu</a:t>
            </a:r>
            <a:endParaRPr lang="en-US" sz="3600" dirty="0"/>
          </a:p>
        </p:txBody>
      </p:sp>
      <p:sp>
        <p:nvSpPr>
          <p:cNvPr id="10" name="anim:9:0"/>
          <p:cNvSpPr/>
          <p:nvPr/>
        </p:nvSpPr>
        <p:spPr>
          <a:xfrm>
            <a:off x="4343400" y="1828800"/>
            <a:ext cx="3520440" cy="1243584"/>
          </a:xfrm>
          <a:prstGeom prst="snip1Rect">
            <a:avLst/>
          </a:prstGeom>
          <a:solidFill>
            <a:srgbClr val="0C130F"/>
          </a:solidFill>
          <a:ln w="12700">
            <a:solidFill>
              <a:srgbClr val="1E2D24"/>
            </a:solidFill>
          </a:ln>
        </p:spPr>
        <p:txBody>
          <a:bodyPr wrap="square" lIns="731520" tIns="155448" rIns="182880" bIns="146304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F2F5E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Bez diagnoz</a:t>
            </a:r>
            <a:endParaRPr lang="en-US" sz="1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A8B1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Doco nie zastępuje lekarza — mówi, czy i gdzie szukać pomocy. Objawy alarmowe kierują pod 112.</a:t>
            </a:r>
            <a:endParaRPr lang="en-US" sz="1600" dirty="0"/>
          </a:p>
        </p:txBody>
      </p:sp>
      <p:pic>
        <p:nvPicPr>
          <p:cNvPr id="11" name="anim:9:0:ikona" descr="C:/Users/mati0/AppData/Local/Temp/claude/C--WINDOWS-system32/30057f80-398d-4f2f-892c-2cd7ce912f70/scratchpad/prezentacja/assets/i-sympto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6280" y="2029968"/>
            <a:ext cx="384048" cy="384048"/>
          </a:xfrm>
          <a:prstGeom prst="rect">
            <a:avLst/>
          </a:prstGeom>
        </p:spPr>
      </p:pic>
      <p:sp>
        <p:nvSpPr>
          <p:cNvPr id="12" name="anim:9:1"/>
          <p:cNvSpPr/>
          <p:nvPr/>
        </p:nvSpPr>
        <p:spPr>
          <a:xfrm>
            <a:off x="8001000" y="1828800"/>
            <a:ext cx="3520440" cy="1243584"/>
          </a:xfrm>
          <a:prstGeom prst="snip1Rect">
            <a:avLst/>
          </a:prstGeom>
          <a:solidFill>
            <a:srgbClr val="0C130F"/>
          </a:solidFill>
          <a:ln w="12700">
            <a:solidFill>
              <a:srgbClr val="1E2D24"/>
            </a:solidFill>
          </a:ln>
        </p:spPr>
        <p:txBody>
          <a:bodyPr wrap="square" lIns="731520" tIns="155448" rIns="182880" bIns="146304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F2F5E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Prywatność</a:t>
            </a:r>
            <a:endParaRPr lang="en-US" sz="1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A8B1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Nastrój i dziennik zostają na urządzeniu. Pisać można bez zakładania konta.</a:t>
            </a:r>
            <a:endParaRPr lang="en-US" sz="1600" dirty="0"/>
          </a:p>
        </p:txBody>
      </p:sp>
      <p:pic>
        <p:nvPicPr>
          <p:cNvPr id="13" name="anim:9:1:ikona" descr="C:/Users/mati0/AppData/Local/Temp/claude/C--WINDOWS-system32/30057f80-398d-4f2f-892c-2cd7ce912f70/scratchpad/prezentacja/assets/i-shiel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83880" y="2029968"/>
            <a:ext cx="384048" cy="384048"/>
          </a:xfrm>
          <a:prstGeom prst="rect">
            <a:avLst/>
          </a:prstGeom>
        </p:spPr>
      </p:pic>
      <p:sp>
        <p:nvSpPr>
          <p:cNvPr id="14" name="anim:9:2"/>
          <p:cNvSpPr/>
          <p:nvPr/>
        </p:nvSpPr>
        <p:spPr>
          <a:xfrm>
            <a:off x="4343400" y="3200400"/>
            <a:ext cx="3520440" cy="1243584"/>
          </a:xfrm>
          <a:prstGeom prst="snip1Rect">
            <a:avLst/>
          </a:prstGeom>
          <a:solidFill>
            <a:srgbClr val="0C130F"/>
          </a:solidFill>
          <a:ln w="12700">
            <a:solidFill>
              <a:srgbClr val="1E2D24"/>
            </a:solidFill>
          </a:ln>
        </p:spPr>
        <p:txBody>
          <a:bodyPr wrap="square" lIns="731520" tIns="155448" rIns="182880" bIns="146304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F2F5E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Sprawdzona wiedza</a:t>
            </a:r>
            <a:endParaRPr lang="en-US" sz="1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A8B1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Tematy zbiera i sprawdza zespół agentów AI: badacz, weryfikator, tester i archiwista.</a:t>
            </a:r>
            <a:endParaRPr lang="en-US" sz="1600" dirty="0"/>
          </a:p>
        </p:txBody>
      </p:sp>
      <p:pic>
        <p:nvPicPr>
          <p:cNvPr id="15" name="anim:9:2:ikona" descr="C:/Users/mati0/AppData/Local/Temp/claude/C--WINDOWS-system32/30057f80-398d-4f2f-892c-2cd7ce912f70/scratchpad/prezentacja/assets/i-cha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26280" y="3401568"/>
            <a:ext cx="384048" cy="384048"/>
          </a:xfrm>
          <a:prstGeom prst="rect">
            <a:avLst/>
          </a:prstGeom>
        </p:spPr>
      </p:pic>
      <p:sp>
        <p:nvSpPr>
          <p:cNvPr id="16" name="anim:9:3"/>
          <p:cNvSpPr/>
          <p:nvPr/>
        </p:nvSpPr>
        <p:spPr>
          <a:xfrm>
            <a:off x="8001000" y="3200400"/>
            <a:ext cx="3520440" cy="1243584"/>
          </a:xfrm>
          <a:prstGeom prst="snip1Rect">
            <a:avLst/>
          </a:prstGeom>
          <a:solidFill>
            <a:srgbClr val="0C130F"/>
          </a:solidFill>
          <a:ln w="12700">
            <a:solidFill>
              <a:srgbClr val="1E2D24"/>
            </a:solidFill>
          </a:ln>
        </p:spPr>
        <p:txBody>
          <a:bodyPr wrap="square" lIns="731520" tIns="155448" rIns="182880" bIns="146304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F2F5E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Po swojemu</a:t>
            </a:r>
            <a:endParaRPr lang="en-US" sz="1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A8B1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języków, 12 kolorów, tryb jasny, ciemny lub systemowy. Instalacja na ekranie telefonu.</a:t>
            </a:r>
            <a:endParaRPr lang="en-US" sz="1600" dirty="0"/>
          </a:p>
        </p:txBody>
      </p:sp>
      <p:pic>
        <p:nvPicPr>
          <p:cNvPr id="17" name="anim:9:3:ikona" descr="C:/Users/mati0/AppData/Local/Temp/claude/C--WINDOWS-system32/30057f80-398d-4f2f-892c-2cd7ce912f70/scratchpad/prezentacja/assets/i-palet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83880" y="3401568"/>
            <a:ext cx="384048" cy="384048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4343400" y="470916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400" dirty="0">
                <a:solidFill>
                  <a:srgbClr val="45E49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ZBUDOWANE Z</a:t>
            </a:r>
            <a:endParaRPr lang="en-US" sz="1200" dirty="0"/>
          </a:p>
        </p:txBody>
      </p:sp>
      <p:sp>
        <p:nvSpPr>
          <p:cNvPr id="19" name="anim:9:4"/>
          <p:cNvSpPr/>
          <p:nvPr/>
        </p:nvSpPr>
        <p:spPr>
          <a:xfrm>
            <a:off x="4343400" y="5029200"/>
            <a:ext cx="1321308" cy="365760"/>
          </a:xfrm>
          <a:prstGeom prst="snip1Rect">
            <a:avLst/>
          </a:prstGeom>
          <a:solidFill>
            <a:srgbClr val="101A14"/>
          </a:solidFill>
          <a:ln w="12700">
            <a:solidFill>
              <a:srgbClr val="1E2D2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0E4B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HTML + JS (PWA)</a:t>
            </a:r>
            <a:endParaRPr lang="en-US" sz="1100" dirty="0"/>
          </a:p>
        </p:txBody>
      </p:sp>
      <p:sp>
        <p:nvSpPr>
          <p:cNvPr id="20" name="anim:9:5"/>
          <p:cNvSpPr/>
          <p:nvPr/>
        </p:nvSpPr>
        <p:spPr>
          <a:xfrm>
            <a:off x="5756148" y="5029200"/>
            <a:ext cx="1115568" cy="365760"/>
          </a:xfrm>
          <a:prstGeom prst="snip1Rect">
            <a:avLst/>
          </a:prstGeom>
          <a:solidFill>
            <a:srgbClr val="101A14"/>
          </a:solidFill>
          <a:ln w="12700">
            <a:solidFill>
              <a:srgbClr val="1E2D2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0E4B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React + Vite</a:t>
            </a:r>
            <a:endParaRPr lang="en-US" sz="1100" dirty="0"/>
          </a:p>
        </p:txBody>
      </p:sp>
      <p:sp>
        <p:nvSpPr>
          <p:cNvPr id="21" name="anim:9:6"/>
          <p:cNvSpPr/>
          <p:nvPr/>
        </p:nvSpPr>
        <p:spPr>
          <a:xfrm>
            <a:off x="6963156" y="5029200"/>
            <a:ext cx="841248" cy="365760"/>
          </a:xfrm>
          <a:prstGeom prst="snip1Rect">
            <a:avLst/>
          </a:prstGeom>
          <a:solidFill>
            <a:srgbClr val="101A14"/>
          </a:solidFill>
          <a:ln w="12700">
            <a:solidFill>
              <a:srgbClr val="1E2D2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0E4B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Three.js</a:t>
            </a:r>
            <a:endParaRPr lang="en-US" sz="1100" dirty="0"/>
          </a:p>
        </p:txBody>
      </p:sp>
      <p:sp>
        <p:nvSpPr>
          <p:cNvPr id="22" name="anim:9:7"/>
          <p:cNvSpPr/>
          <p:nvPr/>
        </p:nvSpPr>
        <p:spPr>
          <a:xfrm>
            <a:off x="7895844" y="5029200"/>
            <a:ext cx="635508" cy="365760"/>
          </a:xfrm>
          <a:prstGeom prst="snip1Rect">
            <a:avLst/>
          </a:prstGeom>
          <a:solidFill>
            <a:srgbClr val="101A14"/>
          </a:solidFill>
          <a:ln w="12700">
            <a:solidFill>
              <a:srgbClr val="1E2D2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0E4B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Clerk</a:t>
            </a:r>
            <a:endParaRPr lang="en-US" sz="1100" dirty="0"/>
          </a:p>
        </p:txBody>
      </p:sp>
      <p:sp>
        <p:nvSpPr>
          <p:cNvPr id="23" name="anim:9:8"/>
          <p:cNvSpPr/>
          <p:nvPr/>
        </p:nvSpPr>
        <p:spPr>
          <a:xfrm>
            <a:off x="8622792" y="5029200"/>
            <a:ext cx="978408" cy="365760"/>
          </a:xfrm>
          <a:prstGeom prst="snip1Rect">
            <a:avLst/>
          </a:prstGeom>
          <a:solidFill>
            <a:srgbClr val="101A14"/>
          </a:solidFill>
          <a:ln w="12700">
            <a:solidFill>
              <a:srgbClr val="1E2D2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0E4B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ElevenLabs</a:t>
            </a:r>
            <a:endParaRPr lang="en-US" sz="1100" dirty="0"/>
          </a:p>
        </p:txBody>
      </p:sp>
      <p:sp>
        <p:nvSpPr>
          <p:cNvPr id="24" name="anim:9:9"/>
          <p:cNvSpPr/>
          <p:nvPr/>
        </p:nvSpPr>
        <p:spPr>
          <a:xfrm>
            <a:off x="9692640" y="5029200"/>
            <a:ext cx="704088" cy="365760"/>
          </a:xfrm>
          <a:prstGeom prst="snip1Rect">
            <a:avLst/>
          </a:prstGeom>
          <a:solidFill>
            <a:srgbClr val="101A14"/>
          </a:solidFill>
          <a:ln w="12700">
            <a:solidFill>
              <a:srgbClr val="1E2D2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0E4B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Claude</a:t>
            </a:r>
            <a:endParaRPr lang="en-US" sz="1100" dirty="0"/>
          </a:p>
        </p:txBody>
      </p:sp>
      <p:sp>
        <p:nvSpPr>
          <p:cNvPr id="25" name="anim:9:10"/>
          <p:cNvSpPr/>
          <p:nvPr/>
        </p:nvSpPr>
        <p:spPr>
          <a:xfrm>
            <a:off x="10488168" y="5029200"/>
            <a:ext cx="1115568" cy="365760"/>
          </a:xfrm>
          <a:prstGeom prst="snip1Rect">
            <a:avLst/>
          </a:prstGeom>
          <a:solidFill>
            <a:srgbClr val="101A14"/>
          </a:solidFill>
          <a:ln w="12700">
            <a:solidFill>
              <a:srgbClr val="1E2D2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0E4B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GitHub Pages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5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5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5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5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5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87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5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99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5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111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5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123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5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5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 animBg="1"/>
      <p:bldP spid="14" grpId="0" animBg="1"/>
      <p:bldP spid="16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5080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!!glow" descr="C:/Users/mati0/AppData/Local/Temp/claude/C--WINDOWS-system32/30057f80-398d-4f2f-892c-2cd7ce912f70/scratchpad/prezentacja/assets/poswiat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457200"/>
            <a:ext cx="6035040" cy="6035040"/>
          </a:xfrm>
          <a:prstGeom prst="rect">
            <a:avLst/>
          </a:prstGeom>
        </p:spPr>
      </p:pic>
      <p:sp>
        <p:nvSpPr>
          <p:cNvPr id="4" name="!!horizon"/>
          <p:cNvSpPr/>
          <p:nvPr/>
        </p:nvSpPr>
        <p:spPr>
          <a:xfrm flipV="1">
            <a:off x="-274320" y="5148177"/>
            <a:ext cx="12737592" cy="566823"/>
          </a:xfrm>
          <a:prstGeom prst="line">
            <a:avLst/>
          </a:prstGeom>
          <a:noFill/>
          <a:ln w="22225">
            <a:solidFill>
              <a:srgbClr val="45E499"/>
            </a:solidFill>
            <a:prstDash val="solid"/>
          </a:ln>
        </p:spPr>
      </p:sp>
      <p:sp>
        <p:nvSpPr>
          <p:cNvPr id="5" name="!!horizon2"/>
          <p:cNvSpPr/>
          <p:nvPr/>
        </p:nvSpPr>
        <p:spPr>
          <a:xfrm flipV="1">
            <a:off x="822960" y="5472547"/>
            <a:ext cx="10515600" cy="467944"/>
          </a:xfrm>
          <a:prstGeom prst="line">
            <a:avLst/>
          </a:prstGeom>
          <a:noFill/>
          <a:ln w="12700">
            <a:solidFill>
              <a:srgbClr val="1C3527"/>
            </a:solidFill>
            <a:prstDash val="solid"/>
          </a:ln>
        </p:spPr>
      </p:sp>
      <p:pic>
        <p:nvPicPr>
          <p:cNvPr id="6" name="!!lemur" descr="C:/Users/mati0/AppData/Local/Temp/claude/C--WINDOWS-system32/30057f80-398d-4f2f-892c-2cd7ce912f70/scratchpad/prezentacja/assets/lemu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2361" y="1829326"/>
            <a:ext cx="3894516" cy="365760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777240" y="6858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400" dirty="0">
                <a:solidFill>
                  <a:srgbClr val="45E49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 DALEJ</a:t>
            </a:r>
            <a:endParaRPr lang="en-US" sz="1200" dirty="0"/>
          </a:p>
        </p:txBody>
      </p:sp>
      <p:sp>
        <p:nvSpPr>
          <p:cNvPr id="8" name="anim:10:0"/>
          <p:cNvSpPr/>
          <p:nvPr/>
        </p:nvSpPr>
        <p:spPr>
          <a:xfrm>
            <a:off x="777240" y="1051560"/>
            <a:ext cx="5486400" cy="621792"/>
          </a:xfrm>
          <a:prstGeom prst="snip1Rect">
            <a:avLst/>
          </a:prstGeom>
          <a:solidFill>
            <a:srgbClr val="0C130F"/>
          </a:solidFill>
          <a:ln w="12700">
            <a:solidFill>
              <a:srgbClr val="1E2D24"/>
            </a:solidFill>
          </a:ln>
        </p:spPr>
        <p:txBody>
          <a:bodyPr wrap="square" lIns="182880" tIns="155448" rIns="182880" bIns="146304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5E4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   </a:t>
            </a:r>
            <a:r>
              <a:rPr lang="en-US" sz="1450" dirty="0">
                <a:solidFill>
                  <a:srgbClr val="F2F5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Analiza AI połączonych objawów</a:t>
            </a:r>
            <a:endParaRPr lang="en-US" sz="1500" dirty="0"/>
          </a:p>
        </p:txBody>
      </p:sp>
      <p:sp>
        <p:nvSpPr>
          <p:cNvPr id="9" name="anim:10:1"/>
          <p:cNvSpPr/>
          <p:nvPr/>
        </p:nvSpPr>
        <p:spPr>
          <a:xfrm>
            <a:off x="777240" y="1801368"/>
            <a:ext cx="5486400" cy="621792"/>
          </a:xfrm>
          <a:prstGeom prst="snip1Rect">
            <a:avLst/>
          </a:prstGeom>
          <a:solidFill>
            <a:srgbClr val="0C130F"/>
          </a:solidFill>
          <a:ln w="12700">
            <a:solidFill>
              <a:srgbClr val="1E2D24"/>
            </a:solidFill>
          </a:ln>
        </p:spPr>
        <p:txBody>
          <a:bodyPr wrap="square" lIns="182880" tIns="155448" rIns="182880" bIns="146304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5E4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   </a:t>
            </a:r>
            <a:r>
              <a:rPr lang="en-US" sz="1450" dirty="0">
                <a:solidFill>
                  <a:srgbClr val="F2F5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Zweryfikowane bazy medyczne</a:t>
            </a:r>
            <a:endParaRPr lang="en-US" sz="1500" dirty="0"/>
          </a:p>
        </p:txBody>
      </p:sp>
      <p:sp>
        <p:nvSpPr>
          <p:cNvPr id="10" name="anim:10:2"/>
          <p:cNvSpPr/>
          <p:nvPr/>
        </p:nvSpPr>
        <p:spPr>
          <a:xfrm>
            <a:off x="777240" y="2551176"/>
            <a:ext cx="5486400" cy="621792"/>
          </a:xfrm>
          <a:prstGeom prst="snip1Rect">
            <a:avLst/>
          </a:prstGeom>
          <a:solidFill>
            <a:srgbClr val="0C130F"/>
          </a:solidFill>
          <a:ln w="12700">
            <a:solidFill>
              <a:srgbClr val="1E2D24"/>
            </a:solidFill>
          </a:ln>
        </p:spPr>
        <p:txBody>
          <a:bodyPr wrap="square" lIns="182880" tIns="155448" rIns="182880" bIns="146304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5E4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   </a:t>
            </a:r>
            <a:r>
              <a:rPr lang="en-US" sz="1450" dirty="0">
                <a:solidFill>
                  <a:srgbClr val="F2F5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Ciało i Objawy w pięciu językach</a:t>
            </a:r>
            <a:endParaRPr lang="en-US" sz="1500" dirty="0"/>
          </a:p>
        </p:txBody>
      </p:sp>
      <p:sp>
        <p:nvSpPr>
          <p:cNvPr id="11" name="anim:10:3"/>
          <p:cNvSpPr/>
          <p:nvPr/>
        </p:nvSpPr>
        <p:spPr>
          <a:xfrm>
            <a:off x="777240" y="3300984"/>
            <a:ext cx="5486400" cy="621792"/>
          </a:xfrm>
          <a:prstGeom prst="snip1Rect">
            <a:avLst/>
          </a:prstGeom>
          <a:solidFill>
            <a:srgbClr val="0C130F"/>
          </a:solidFill>
          <a:ln w="12700">
            <a:solidFill>
              <a:srgbClr val="1E2D24"/>
            </a:solidFill>
          </a:ln>
        </p:spPr>
        <p:txBody>
          <a:bodyPr wrap="square" lIns="182880" tIns="155448" rIns="182880" bIns="146304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5E4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   </a:t>
            </a:r>
            <a:r>
              <a:rPr lang="en-US" sz="1450" dirty="0">
                <a:solidFill>
                  <a:srgbClr val="F2F5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Dłuższe rozmowy głosowe na licencji komercyjnej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749808" y="4224528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600" b="1" dirty="0">
                <a:solidFill>
                  <a:srgbClr val="F7F3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Dziękujemy!</a:t>
            </a:r>
            <a:endParaRPr lang="en-US" sz="5600" dirty="0"/>
          </a:p>
        </p:txBody>
      </p:sp>
      <p:sp>
        <p:nvSpPr>
          <p:cNvPr id="13" name="Text 8"/>
          <p:cNvSpPr/>
          <p:nvPr/>
        </p:nvSpPr>
        <p:spPr>
          <a:xfrm>
            <a:off x="777240" y="59436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5E49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</a:t>
            </a:r>
            <a:r>
              <a:rPr lang="en-US" sz="1500" dirty="0">
                <a:solidFill>
                  <a:srgbClr val="F2F5E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juzu01.github.io/hackyeah-2026</a:t>
            </a:r>
            <a:endParaRPr lang="en-US" sz="1500" dirty="0"/>
          </a:p>
        </p:txBody>
      </p:sp>
      <p:pic>
        <p:nvPicPr>
          <p:cNvPr id="14" name="qr" descr="C:/Users/mati0/AppData/Local/Temp/claude/C--WINDOWS-system32/30057f80-398d-4f2f-892c-2cd7ce912f70/scratchpad/prezentacja/assets/q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89920" y="5468112"/>
            <a:ext cx="1051560" cy="105156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509760" y="58521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45E49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Wypróbuj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8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5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1146</Words>
  <Application>Microsoft Office PowerPoint</Application>
  <PresentationFormat>Panoramiczny</PresentationFormat>
  <Paragraphs>137</Paragraphs>
  <Slides>10</Slides>
  <Notes>10</Notes>
  <HiddenSlides>0</HiddenSlides>
  <MMClips>0</MMClips>
  <ScaleCrop>false</ScaleCrop>
  <HeadingPairs>
    <vt:vector size="6" baseType="variant">
      <vt:variant>
        <vt:lpstr>Używane czcionki</vt:lpstr>
      </vt:variant>
      <vt:variant>
        <vt:i4>4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10</vt:i4>
      </vt:variant>
    </vt:vector>
  </HeadingPairs>
  <TitlesOfParts>
    <vt:vector size="15" baseType="lpstr">
      <vt:lpstr>Georgia</vt:lpstr>
      <vt:lpstr>Segoe UI Semibold</vt:lpstr>
      <vt:lpstr>Segoe UI</vt:lpstr>
      <vt:lpstr>Arial</vt:lpstr>
      <vt:lpstr>Office Theme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>HackYeah 2026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Doco — HackYeah 2026</dc:title>
  <dc:subject>PptxGenJS Presentation</dc:subject>
  <dc:creator>Zespół Doco</dc:creator>
  <cp:lastModifiedBy>Mateusz M</cp:lastModifiedBy>
  <cp:revision>2</cp:revision>
  <dcterms:created xsi:type="dcterms:W3CDTF">2026-10-04T07:51:30Z</dcterms:created>
  <dcterms:modified xsi:type="dcterms:W3CDTF">2026-10-04T07:51:41Z</dcterms:modified>
</cp:coreProperties>
</file>